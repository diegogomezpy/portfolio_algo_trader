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rial"/>
              </a:rPr>
              <a:t>PROPRIETARY 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Systematic Factor
Income Fund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rial"/>
              </a:rPr>
              <a:t>A rules-based equity portfolio with an options income overlay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rial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rial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rial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The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rial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rial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rial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rial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rial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rial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rial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rial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rial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rial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Why this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rial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rial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rial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rial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rial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rial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rial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rial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The factor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rial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rial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rial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24528"/>
            <a:ext cx="54864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70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497" y="4681728"/>
            <a:ext cx="1629565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64184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E1B2A"/>
                </a:solidFill>
                <a:latin typeface="Arial"/>
              </a:rPr>
              <a:t>x</a:t>
            </a:r>
            <a:r>
              <a:rPr sz="1250" b="0">
                <a:solidFill>
                  <a:srgbClr val="6B7787"/>
                </a:solidFill>
                <a:latin typeface="Arial"/>
              </a:rPr>
              <a:t> the company's value    </a:t>
            </a:r>
            <a:r>
              <a:rPr sz="1250" b="1">
                <a:solidFill>
                  <a:srgbClr val="0E1B2A"/>
                </a:solidFill>
                <a:latin typeface="Arial"/>
              </a:rPr>
              <a:t>μ</a:t>
            </a:r>
            <a:r>
              <a:rPr sz="1250" b="0">
                <a:solidFill>
                  <a:srgbClr val="6B7787"/>
                </a:solidFill>
                <a:latin typeface="Arial"/>
              </a:rPr>
              <a:t> the average    </a:t>
            </a:r>
            <a:r>
              <a:rPr sz="1250" b="1">
                <a:solidFill>
                  <a:srgbClr val="0E1B2A"/>
                </a:solidFill>
                <a:latin typeface="Arial"/>
              </a:rPr>
              <a:t>σ</a:t>
            </a:r>
            <a:r>
              <a:rPr sz="1250" b="0">
                <a:solidFill>
                  <a:srgbClr val="6B7787"/>
                </a:solidFill>
                <a:latin typeface="Arial"/>
              </a:rPr>
              <a:t> standard deviation</a:t>
            </a:r>
          </a:p>
        </p:txBody>
      </p:sp>
      <p:pic>
        <p:nvPicPr>
          <p:cNvPr id="13" name="Picture 12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rial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rial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rial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rial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1830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342" y="5029200"/>
            <a:ext cx="4610267" cy="457199"/>
          </a:xfrm>
          <a:prstGeom prst="rect">
            <a:avLst/>
          </a:prstGeom>
        </p:spPr>
      </p:pic>
      <p:pic>
        <p:nvPicPr>
          <p:cNvPr id="12" name="Picture 11" descr="f_valu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312" y="5422392"/>
            <a:ext cx="2122327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rial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rial"/>
              </a:rPr>
              <a:t>Fama &amp; French (1992, 1993); Basu (1977).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rial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rial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rial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rial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029" y="5166360"/>
            <a:ext cx="4256893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rial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rial"/>
              </a:rPr>
              <a:t>Jegadeesh &amp; Titman (1993); Asness, Moskowitz &amp; Pedersen (2013).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rial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rial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rial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rial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443" y="5166360"/>
            <a:ext cx="9730066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rial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rial"/>
              </a:rPr>
              <a:t>Novy-Marx (2013); Asness, Frazzini &amp; Pedersen (2019); Piotroski (2000).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rial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rial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rial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rial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312" y="5166360"/>
            <a:ext cx="6660328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rial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rial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rial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rial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rial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3716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59" y="3141002"/>
            <a:ext cx="4480560" cy="886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2702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Q, V, M, L are the four factor scores. The highest combined scores become the portfolio.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Building the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rial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rial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rial"/>
              </a:rPr>
              <a:t>▪  </a:t>
            </a:r>
            <a:r>
              <a:rPr sz="1450" b="1">
                <a:solidFill>
                  <a:srgbClr val="1F2A37"/>
                </a:solidFill>
                <a:latin typeface="Arial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rial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94" y="3081528"/>
            <a:ext cx="2717489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w is each stock's weight; score is its combined factor score. Read: choose weights that put the most money in the best-scoring names.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rial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The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rial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Premium: </a:t>
            </a:r>
            <a:r>
              <a:rPr sz="1400" b="0">
                <a:solidFill>
                  <a:srgbClr val="1F2A37"/>
                </a:solidFill>
                <a:latin typeface="Arial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rial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rial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10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rial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rial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rial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rial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A small set of clear, automatic rules govern the whole overlay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One monthly cycle. </a:t>
            </a:r>
            <a:r>
              <a:rPr sz="1600" b="0">
                <a:solidFill>
                  <a:srgbClr val="1F2A37"/>
                </a:solidFill>
                <a:latin typeface="Arial"/>
              </a:rPr>
              <a:t>At each monthly rebalance we close every existing call and write fresh ones against the new holdings. Simple, and always aligned to current positions.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Closed before earnings. </a:t>
            </a:r>
            <a:r>
              <a:rPr sz="1600" b="0">
                <a:solidFill>
                  <a:srgbClr val="1F2A37"/>
                </a:solidFill>
                <a:latin typeface="Arial"/>
              </a:rPr>
              <a:t>A company's earnings announcement can cause a large jump. We close any call facing one beforehand, then rewrite afterward.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Closed before expiry. </a:t>
            </a:r>
            <a:r>
              <a:rPr sz="1600" b="0">
                <a:solidFill>
                  <a:srgbClr val="1F2A37"/>
                </a:solidFill>
                <a:latin typeface="Arial"/>
              </a:rPr>
              <a:t>No option is ever left to settle on its own.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Re-entered only if still wanted. </a:t>
            </a:r>
            <a:r>
              <a:rPr sz="1600" b="0">
                <a:solidFill>
                  <a:srgbClr val="1F2A37"/>
                </a:solidFill>
                <a:latin typeface="Arial"/>
              </a:rPr>
              <a:t>If a stock is sold via an option, we buy it back only when it still ranks well. We do not chase a stock that has run past the strike.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rial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rial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rial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The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rial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rial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A small, low-cost, auditable set of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Alpaca: market data and trading. </a:t>
            </a:r>
            <a:r>
              <a:rPr sz="1600" b="0">
                <a:solidFill>
                  <a:srgbClr val="1F2A37"/>
                </a:solidFill>
                <a:latin typeface="Arial"/>
              </a:rPr>
              <a:t>Daily stock prices, live option quotes, and the brokerage account where orders are placed. Prices are adjusted for splits and dividends.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SEC filings (EDGAR): company financials. </a:t>
            </a:r>
            <a:r>
              <a:rPr sz="1600" b="0">
                <a:solidFill>
                  <a:srgbClr val="1F2A37"/>
                </a:solidFill>
                <a:latin typeface="Arial"/>
              </a:rPr>
              <a:t>Official quarterly filings, used for the Value and Quality factors. Free, authoritative, and stamped with the real filing date.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Public factor data: risk modelling. </a:t>
            </a:r>
            <a:r>
              <a:rPr sz="1600" b="0">
                <a:solidFill>
                  <a:srgbClr val="1F2A37"/>
                </a:solidFill>
                <a:latin typeface="Arial"/>
              </a:rPr>
              <a:t>Standard published factor returns, used to model how the holdings move together.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Stored in two layers. </a:t>
            </a:r>
            <a:r>
              <a:rPr sz="1600" b="0">
                <a:solidFill>
                  <a:srgbClr val="1F2A37"/>
                </a:solidFill>
                <a:latin typeface="Arial"/>
              </a:rPr>
              <a:t>A historical archive for research, and an operational database for live orders, positions, and an audit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Adjusted for corporate actions. </a:t>
            </a:r>
            <a:r>
              <a:rPr sz="1600" b="0">
                <a:solidFill>
                  <a:srgbClr val="1F2A37"/>
                </a:solidFill>
                <a:latin typeface="Arial"/>
              </a:rPr>
              <a:t>Stock splits and dividends never masquerade as returns.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Point-in-time. </a:t>
            </a:r>
            <a:r>
              <a:rPr sz="1600" b="0">
                <a:solidFill>
                  <a:srgbClr val="1F2A37"/>
                </a:solidFill>
                <a:latin typeface="Arial"/>
              </a:rPr>
              <a:t>Historical tests use only what was public on each date, so results are not flattered by hindsight.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Reconciled with the broker every run. </a:t>
            </a:r>
            <a:r>
              <a:rPr sz="1600" b="0">
                <a:solidFill>
                  <a:srgbClr val="1F2A37"/>
                </a:solidFill>
                <a:latin typeface="Arial"/>
              </a:rPr>
              <a:t>The system squares its own records against the actual account before trading, and stops if the broker cannot be reached.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 clean, traded universe. </a:t>
            </a:r>
            <a:r>
              <a:rPr sz="1600" b="0">
                <a:solidFill>
                  <a:srgbClr val="1F2A37"/>
                </a:solidFill>
                <a:latin typeface="Arial"/>
              </a:rPr>
              <a:t>Only liquid stocks with reliable filings are eligible, which keeps both the data and the options market dependable.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Execution, risk and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rial"/>
              </a:rPr>
              <a:t>▪  </a:t>
            </a:r>
            <a:r>
              <a:rPr sz="1350" b="1">
                <a:solidFill>
                  <a:srgbClr val="1F2A37"/>
                </a:solidFill>
                <a:latin typeface="Arial"/>
              </a:rPr>
              <a:t>Timing. </a:t>
            </a:r>
            <a:r>
              <a:rPr sz="1350" b="0">
                <a:solidFill>
                  <a:srgbClr val="1F2A37"/>
                </a:solidFill>
                <a:latin typeface="Arial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rial"/>
              </a:rPr>
              <a:t>▪  </a:t>
            </a:r>
            <a:r>
              <a:rPr sz="1350" b="1">
                <a:solidFill>
                  <a:srgbClr val="1F2A37"/>
                </a:solidFill>
                <a:latin typeface="Arial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rial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For a capital-preservation mandate, this is the most important section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 pre-trade review on every cycle. </a:t>
            </a:r>
            <a:r>
              <a:rPr sz="1600" b="0">
                <a:solidFill>
                  <a:srgbClr val="1F2A37"/>
                </a:solidFill>
                <a:latin typeface="Arial"/>
              </a:rPr>
              <a:t>No order is sent if it would breach a limit, and the overlay can never sell a call the portfolio cannot cover.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Safe to interrupt and re-run. </a:t>
            </a:r>
            <a:r>
              <a:rPr sz="1600" b="0">
                <a:solidFill>
                  <a:srgbClr val="1F2A37"/>
                </a:solidFill>
                <a:latin typeface="Arial"/>
              </a:rPr>
              <a:t>The system can stop and restart mid-rebalance without double-trading, and finishes an interrupted rebalance on the next run.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An emergency stop. </a:t>
            </a:r>
            <a:r>
              <a:rPr sz="1600" b="0">
                <a:solidFill>
                  <a:srgbClr val="1F2A37"/>
                </a:solidFill>
                <a:latin typeface="Arial"/>
              </a:rPr>
              <a:t>A single command halts trading and cancels open orders, or sells the entire book to cash.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Everything is recorded. </a:t>
            </a:r>
            <a:r>
              <a:rPr sz="1600" b="0">
                <a:solidFill>
                  <a:srgbClr val="1F2A37"/>
                </a:solidFill>
                <a:latin typeface="Arial"/>
              </a:rPr>
              <a:t>Every score, order, and fill is logged, giving a complete audit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test is designed to resist the usual criticism of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 walk-forward simulation, 2021 to 2026. </a:t>
            </a:r>
            <a:r>
              <a:rPr sz="1600" b="0">
                <a:solidFill>
                  <a:srgbClr val="1F2A37"/>
                </a:solidFill>
                <a:latin typeface="Arial"/>
              </a:rPr>
              <a:t>Each month, the strategy is run on only the information available at the time, exactly as it would run 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Realistic trading costs. </a:t>
            </a:r>
            <a:r>
              <a:rPr sz="1600" b="0">
                <a:solidFill>
                  <a:srgbClr val="1F2A37"/>
                </a:solidFill>
                <a:latin typeface="Arial"/>
              </a:rPr>
              <a:t>Every simulated trade is charged a spread cost scaled to how liquid the stock is.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Real option prices where available. </a:t>
            </a:r>
            <a:r>
              <a:rPr sz="1600" b="0">
                <a:solidFill>
                  <a:srgbClr val="1F2A37"/>
                </a:solidFill>
                <a:latin typeface="Arial"/>
              </a:rPr>
              <a:t>Covered-call premiums use actual historical option prices, not just a model.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Checked against a public index. </a:t>
            </a:r>
            <a:r>
              <a:rPr sz="1600" b="0">
                <a:solidFill>
                  <a:srgbClr val="1F2A37"/>
                </a:solidFill>
                <a:latin typeface="Arial"/>
              </a:rPr>
              <a:t>The option model reproduces the published CBOE BuyWrite index closely, which validates the mechanics.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Higher risk-adjusted return than the market, with lower volatility and drawdown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5688"/>
            <a:ext cx="6675120" cy="38742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21214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21214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21214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8C7E"/>
                </a:solidFill>
                <a:latin typeface="Arial"/>
              </a:rPr>
              <a:t>1.24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214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Risk-adjusted return (Sharpe),
vs. 0.87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930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4930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34930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rial"/>
              </a:rPr>
              <a:t>−16.7%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Worst peak-to-trough fall,
vs. −24%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8646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48646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48646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rial"/>
              </a:rPr>
              <a:t>~25% / 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646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rial"/>
              </a:rPr>
              <a:t>Option premium collected
as income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F2A37"/>
                </a:solidFill>
                <a:latin typeface="Arial"/>
              </a:rPr>
              <a:t>Sharpe ratio</a:t>
            </a:r>
            <a:r>
              <a:rPr sz="1050" b="0">
                <a:solidFill>
                  <a:srgbClr val="6B7787"/>
                </a:solidFill>
                <a:latin typeface="Arial"/>
              </a:rPr>
              <a:t> is return per unit of risk; </a:t>
            </a:r>
            <a:r>
              <a:rPr sz="1050" b="1">
                <a:solidFill>
                  <a:srgbClr val="1F2A37"/>
                </a:solidFill>
                <a:latin typeface="Arial"/>
              </a:rPr>
              <a:t>drawdown</a:t>
            </a:r>
            <a:r>
              <a:rPr sz="1050" b="0">
                <a:solidFill>
                  <a:srgbClr val="6B7787"/>
                </a:solidFill>
                <a:latin typeface="Arial"/>
              </a:rPr>
              <a:t> is the largest peak-to-trough loss. Strategy figures are from the simulation; benchmarks from index history over the same period. Results are simulated and from paper trading, not live capital.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A single page gives the full picture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Overview. </a:t>
            </a:r>
            <a:r>
              <a:rPr sz="1600" b="0">
                <a:solidFill>
                  <a:srgbClr val="1F2A37"/>
                </a:solidFill>
                <a:latin typeface="Arial"/>
              </a:rPr>
              <a:t>Account value and cash to the cent, daily profit, and a single health bar covering the engine, the market clock, the next rebalance, and any alerts.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Portfolio. </a:t>
            </a:r>
            <a:r>
              <a:rPr sz="1600" b="0">
                <a:solidFill>
                  <a:srgbClr val="1F2A37"/>
                </a:solidFill>
                <a:latin typeface="Arial"/>
              </a:rPr>
              <a:t>Holdings against target, sector and concentration breakdowns, the portfolio's factor tilt, the covered calls, and recent activity.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Performance. </a:t>
            </a:r>
            <a:r>
              <a:rPr sz="1600" b="0">
                <a:solidFill>
                  <a:srgbClr val="1F2A37"/>
                </a:solidFill>
                <a:latin typeface="Arial"/>
              </a:rPr>
              <a:t>Growth against the S&amp;P 500 and the BuyWrite index, risk measures, and a breakdown of trading costs and option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Always current. </a:t>
            </a:r>
            <a:r>
              <a:rPr sz="1600" b="0">
                <a:solidFill>
                  <a:srgbClr val="1F2A37"/>
                </a:solidFill>
                <a:latin typeface="Arial"/>
              </a:rPr>
              <a:t>The dashboard updates itself from the live account, so it reflects the real state rather than a stale snapshot.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rial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rial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rial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rial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rial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Status and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rial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1F2A37"/>
                </a:solidFill>
                <a:latin typeface="Arial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rial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rial"/>
              </a:rPr>
              <a:t>▪  </a:t>
            </a:r>
            <a:r>
              <a:rPr sz="1600" b="1">
                <a:solidFill>
                  <a:srgbClr val="0E8C7E"/>
                </a:solidFill>
                <a:latin typeface="Arial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rial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rial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rial"/>
              </a:rPr>
              <a:t>▪  </a:t>
            </a:r>
            <a:r>
              <a:rPr sz="1400" b="1">
                <a:solidFill>
                  <a:srgbClr val="1F2A37"/>
                </a:solidFill>
                <a:latin typeface="Arial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rial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rial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rial"/>
              </a:rPr>
              <a:t>IN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disciplined factor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rial"/>
              </a:rPr>
              <a:t>Four proven traits, computed transparently and weighted equally.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An income overlay that lowers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rial"/>
              </a:rPr>
              <a:t>Covered calls harvest a persistent premium and smooth the ride.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Built for capital preservation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rial"/>
              </a:rPr>
              <a:t>Firm diversification limits, a pre-trade risk check, and an emergency stop.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Tested, and honest about its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rial"/>
              </a:rPr>
              <a:t>Strong risk-adjusted returns in a rigorous simulation, with the assumptions stated.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Live and monitored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rial"/>
              </a:rPr>
              <a:t>Running on a paper account, one verification step from the go-live discussion.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rial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57683"/>
            <a:ext cx="4663440" cy="462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338142"/>
            <a:ext cx="4663440" cy="90155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74785"/>
            <a:ext cx="4663440" cy="39442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rial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4283889"/>
            <a:ext cx="4663440" cy="5762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94959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1B2A"/>
                </a:solidFill>
                <a:latin typeface="Arial"/>
              </a:rPr>
              <a:t>z(·)</a:t>
            </a:r>
            <a:r>
              <a:rPr sz="1200" b="0">
                <a:solidFill>
                  <a:srgbClr val="6B7787"/>
                </a:solidFill>
                <a:latin typeface="Arial"/>
              </a:rPr>
              <a:t> is the standardising score from slide 8; each factor is combined equally into the final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rial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rial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rial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rial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rial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rial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rial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rial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rial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rial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rial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rial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rial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rial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rial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rial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