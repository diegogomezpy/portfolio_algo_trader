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4B8A6"/>
                </a:solidFill>
                <a:latin typeface="Avenir Next"/>
              </a:rPr>
              <a:t>PROPRIETARY INVESTMENT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1088136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>
                <a:solidFill>
                  <a:srgbClr val="FFFFFF"/>
                </a:solidFill>
                <a:latin typeface="Avenir Next"/>
              </a:rPr>
              <a:t>Systematic Factor
Income Fund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160520"/>
            <a:ext cx="2377440" cy="3175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389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>
                <a:solidFill>
                  <a:srgbClr val="C7D2DD"/>
                </a:solidFill>
                <a:latin typeface="Avenir Next"/>
              </a:rPr>
              <a:t>A rules-based equity portfolio with an options income overlay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FFFFFF"/>
                </a:solidFill>
                <a:latin typeface="Avenir Next"/>
              </a:rPr>
              <a:t>Strategy overview</a:t>
            </a:r>
            <a:r>
              <a:rPr sz="1200" b="0">
                <a:solidFill>
                  <a:srgbClr val="8B99A8"/>
                </a:solidFill>
                <a:latin typeface="Avenir Next"/>
              </a:rPr>
              <a:t>        Confidential, for internal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What this overview covers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105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10512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The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10512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What the fund is built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5399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5399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Why this approach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25399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Proven return drivers, plus an income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69748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974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The factor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9748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The four traits we select stocks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4096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40964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Building the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40964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Turning scores into holdings, within strict limits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8444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358444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The income overlay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58444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Earning option premium on what we own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027931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027931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The data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027931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Where the numbers come from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47141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714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Execution, risk and 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471416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How we trade, how we control risk, how it tested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9149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49149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Operations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91490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Monitoring and infrastructure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358383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58383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Status and outlook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5358383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Where the build stands today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80186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8C7E"/>
                </a:solidFill>
                <a:latin typeface="Avenir Next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5801868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Appendix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801868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6B7787"/>
                </a:solidFill>
                <a:latin typeface="Avenir Next"/>
              </a:rPr>
              <a:t>Formulas, sources, detailed results, glossary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The objective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A book built to diversify the firm with steady, risk-adjusted returns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1 · THE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What the fund is built to 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The mandate is risk-adjusted income and capital preservation, not maximum return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Preserve capital first.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Every design choice favours protecting the book over maximising return. Shallow drawdowns matter more than big years.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Produce uncorrelated returns.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A return stream that diversifies the firm's core business rather than echoing it.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Stay explainable.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A transparent, rules-based strategy with a long research record. Anyone can audit why a position is held.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Earn income steadily.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Option premium provides a recurring return that does not depend on the market rising.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02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1 · THE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What it is, and what it is not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Stating the boundaries up front keeps the strategy disciplined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7568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8C7E"/>
                </a:solidFill>
                <a:latin typeface="Avenir Next"/>
              </a:rPr>
              <a:t>WHAT IT 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487168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487168"/>
            <a:ext cx="82296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59689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A systematic factor portfolio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907792"/>
            <a:ext cx="4901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Rules select stocks on proven traits, rebalanced monthly.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721608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721608"/>
            <a:ext cx="82296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83133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An options income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142232"/>
            <a:ext cx="4901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Covered calls turn holdings into a recurring income stream.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956048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956048"/>
            <a:ext cx="82296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506577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Broadly diversified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376672"/>
            <a:ext cx="4901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About 20 stocks, with firm limits on any one name or sector.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75688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6B7787"/>
                </a:solidFill>
                <a:latin typeface="Avenir Next"/>
              </a:rPr>
              <a:t>WHAT IT IS NOT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5080" y="2487168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2487168"/>
            <a:ext cx="82296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74536" y="259689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Not a forecasting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74536" y="2907792"/>
            <a:ext cx="4901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No black-box prediction of next month's returns.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55080" y="3721608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3721608"/>
            <a:ext cx="82296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74536" y="383133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Not market timing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74536" y="4142232"/>
            <a:ext cx="4901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No attempt to call tops or bottoms. The factors carry the defense.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4956048"/>
            <a:ext cx="5212080" cy="109728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55080" y="4956048"/>
            <a:ext cx="82296" cy="10972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74536" y="506577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Not concentrated bets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74536" y="5376672"/>
            <a:ext cx="49011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No large single-stock positions or thematic gambles.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03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1 · THE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Two engines, one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A stock portfolio decides what we own. An overlay earns income on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468880"/>
            <a:ext cx="4297680" cy="1783080"/>
          </a:xfrm>
          <a:prstGeom prst="roundRect">
            <a:avLst>
              <a:gd name="adj" fmla="val 10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venir Next"/>
              </a:rPr>
              <a:t>FACTOR STOCK PORTFOLIO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C7D2DD"/>
                </a:solidFill>
                <a:latin typeface="Avenir Next"/>
              </a:rPr>
              <a:t>About 20 stocks chosen on four
proven traits, rebalanced monthly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086600" y="2468880"/>
            <a:ext cx="4297680" cy="1783080"/>
          </a:xfrm>
          <a:prstGeom prst="roundRect">
            <a:avLst>
              <a:gd name="adj" fmla="val 10000"/>
            </a:avLst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278892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Avenir Next"/>
              </a:rPr>
              <a:t>COVERED-CALL OVERLAY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3383280"/>
            <a:ext cx="39319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CCEEE9"/>
                </a:solidFill>
                <a:latin typeface="Avenir Next"/>
              </a:rPr>
              <a:t>Sell call options on those holdings
to collect cash premium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49240" y="3154680"/>
            <a:ext cx="1554480" cy="411480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7432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6B7787"/>
                </a:solidFill>
                <a:latin typeface="Avenir Next"/>
              </a:rPr>
              <a:t>earns income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754880"/>
            <a:ext cx="106070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F2A37"/>
                </a:solidFill>
                <a:latin typeface="Avenir Next"/>
              </a:rPr>
              <a:t>Total return comes from two sources: </a:t>
            </a:r>
            <a:r>
              <a:rPr sz="1500" b="0">
                <a:solidFill>
                  <a:srgbClr val="1F2A37"/>
                </a:solidFill>
                <a:latin typeface="Avenir Next"/>
              </a:rPr>
              <a:t>the stocks we select, and the premium the overlay collects. The overlay also lowers the portfolio's volatility, in exchange for capping gains on any stock that rises sharply.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Why this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Built on durable, well-documented sources of return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2 · WHY THIS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Why proven factors, not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The strategy relies on effects with a long academic and practical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Predicting short-term returns is the most crowded game in investing.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Thousands of funds chase the same price signals, and any edge erodes quickly.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Factors are paid for bearing risk, not for finding mistakes.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That is why they have persisted across decades and across markets, rather than being arbitraged away.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A rules-based portfolio is defensible.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It can be explained and audited, and it holds up to scrutiny during a weak stretch. A black-box model cannot.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It fits the mandate.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The goal is durable, risk-adjusted income, which is exactly what factor premia and an options overlay are designed to provide.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2 · WHY THIS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Why an options income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Options consistently trade richer than the price moves that follow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57784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Implied volatility is the price movement the market expects,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and it is built into every option's price.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It usually runs higher than the movement that actually occurs.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Sellers of options are paid for that gap. It is a persistent, well-studied premium.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We collect it on stock we already own.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Selling calls on our holdings turns that premium into income, with no extra capital tied up.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It also smooths the ride.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Premium cushions down months and lowers overall volatility, at the cost of capping the occasional very large gain.</a:t>
            </a:r>
          </a:p>
        </p:txBody>
      </p:sp>
      <p:pic>
        <p:nvPicPr>
          <p:cNvPr id="9" name="Picture 8" descr="vr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21408"/>
            <a:ext cx="5029200" cy="263065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06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The factor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Four traits, measured the same way, combined into one score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3 · THE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What we mean by a factor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A factor is a company trait that has historically earned higher long-run returns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090879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F2A37"/>
                </a:solidFill>
                <a:latin typeface="Avenir Next"/>
              </a:rPr>
              <a:t>We score every stock on four such traits, combine the four scores into one, and hold the highest-ranked names. Each trait below is supported by decades of research.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35808"/>
            <a:ext cx="3657600" cy="713232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3035808"/>
            <a:ext cx="82296" cy="7132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145536"/>
            <a:ext cx="3346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3456432"/>
            <a:ext cx="33467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profitable, efficient companies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77056"/>
            <a:ext cx="3657600" cy="713232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877056"/>
            <a:ext cx="82296" cy="7132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986784"/>
            <a:ext cx="3346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4297680"/>
            <a:ext cx="33467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inexpensive vs. fundamentals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718304"/>
            <a:ext cx="3657600" cy="713232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4718304"/>
            <a:ext cx="82296" cy="7132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4828032"/>
            <a:ext cx="3346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Momentum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5138928"/>
            <a:ext cx="33467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sustained recent strength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59552"/>
            <a:ext cx="3657600" cy="713232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559552"/>
            <a:ext cx="82296" cy="713232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" y="5669280"/>
            <a:ext cx="33467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Low volatility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6" y="5980176"/>
            <a:ext cx="334670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steadier price behaviour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4526280" y="4453128"/>
            <a:ext cx="640080" cy="457200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349240" y="3858768"/>
            <a:ext cx="2834640" cy="1691640"/>
          </a:xfrm>
          <a:prstGeom prst="roundRect">
            <a:avLst>
              <a:gd name="adj" fmla="val 10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4133088"/>
            <a:ext cx="265176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venir Next"/>
              </a:rPr>
              <a:t>Combined
score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366760" y="4453128"/>
            <a:ext cx="640080" cy="457200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0" y="3858768"/>
            <a:ext cx="2404872" cy="1691640"/>
          </a:xfrm>
          <a:prstGeom prst="roundRect">
            <a:avLst>
              <a:gd name="adj" fmla="val 10000"/>
            </a:avLst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4133088"/>
            <a:ext cx="2221992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Avenir Next"/>
              </a:rPr>
              <a:t>Hold the
best ~20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3 · THE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Putting every company on the same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Each trait becomes a score showing how far a company sits from the average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4864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1F2A37"/>
                </a:solidFill>
                <a:latin typeface="Avenir Next"/>
              </a:rPr>
              <a:t>A score (a z-score) measures how far a company sits above or below the average, counted in standard deviations. A standard deviation is the usual gauge of how spread out a set of numbers is.
</a:t>
            </a:r>
            <a:r>
              <a:rPr sz="1500" b="0">
                <a:solidFill>
                  <a:srgbClr val="1F2A37"/>
                </a:solidFill>
                <a:latin typeface="Avenir Next"/>
              </a:rPr>
              <a:t>A score of +1 means one standard deviation better than average. Zero is exactly average.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224528"/>
            <a:ext cx="5486400" cy="12344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370832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HOW A SCORE IS CALCULATED</a:t>
            </a:r>
          </a:p>
        </p:txBody>
      </p:sp>
      <p:pic>
        <p:nvPicPr>
          <p:cNvPr id="11" name="Picture 10" descr="f_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497" y="4681728"/>
            <a:ext cx="1629565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" y="5641848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0E1B2A"/>
                </a:solidFill>
                <a:latin typeface="Avenir Next"/>
              </a:rPr>
              <a:t>x</a:t>
            </a:r>
            <a:r>
              <a:rPr sz="1250" b="0">
                <a:solidFill>
                  <a:srgbClr val="6B7787"/>
                </a:solidFill>
                <a:latin typeface="Avenir Next"/>
              </a:rPr>
              <a:t> the company's value    </a:t>
            </a:r>
            <a:r>
              <a:rPr sz="1250" b="1">
                <a:solidFill>
                  <a:srgbClr val="0E1B2A"/>
                </a:solidFill>
                <a:latin typeface="Avenir Next"/>
              </a:rPr>
              <a:t>μ</a:t>
            </a:r>
            <a:r>
              <a:rPr sz="1250" b="0">
                <a:solidFill>
                  <a:srgbClr val="6B7787"/>
                </a:solidFill>
                <a:latin typeface="Avenir Next"/>
              </a:rPr>
              <a:t> the average    </a:t>
            </a:r>
            <a:r>
              <a:rPr sz="1250" b="1">
                <a:solidFill>
                  <a:srgbClr val="0E1B2A"/>
                </a:solidFill>
                <a:latin typeface="Avenir Next"/>
              </a:rPr>
              <a:t>σ</a:t>
            </a:r>
            <a:r>
              <a:rPr sz="1250" b="0">
                <a:solidFill>
                  <a:srgbClr val="6B7787"/>
                </a:solidFill>
                <a:latin typeface="Avenir Next"/>
              </a:rPr>
              <a:t> standard deviation</a:t>
            </a:r>
          </a:p>
        </p:txBody>
      </p:sp>
      <p:pic>
        <p:nvPicPr>
          <p:cNvPr id="13" name="Picture 12" descr="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21408"/>
            <a:ext cx="5120640" cy="22321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08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3 · THE FOUR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Value: paying less for what you get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1F2A37"/>
                </a:solidFill>
                <a:latin typeface="Avenir Next"/>
              </a:rPr>
              <a:t>Cheaper stocks, judged against company fundamentals, have historically out-returned expensive 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9087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Price-to-earnings (P/E):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share price divided by yearly earnings per share. It shows how many dollars you pay for one dollar of profit. Lower is cheaper.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Price-to-book (P/B):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share price divided by net asset value per share. Lower is cheaper.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We score the inverse (the yield),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so a lower price produces a higher Value score.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72000"/>
            <a:ext cx="10908792" cy="141732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1830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HOW IT IS MEASURED</a:t>
            </a:r>
          </a:p>
        </p:txBody>
      </p:sp>
      <p:pic>
        <p:nvPicPr>
          <p:cNvPr id="11" name="Picture 10" descr="f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281" y="5029200"/>
            <a:ext cx="3604390" cy="457199"/>
          </a:xfrm>
          <a:prstGeom prst="rect">
            <a:avLst/>
          </a:prstGeom>
        </p:spPr>
      </p:pic>
      <p:pic>
        <p:nvPicPr>
          <p:cNvPr id="12" name="Picture 11" descr="f_valu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312" y="5422392"/>
            <a:ext cx="2122327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099048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6B7787"/>
                </a:solidFill>
                <a:latin typeface="Avenir Next"/>
              </a:rPr>
              <a:t>Foundational research:  </a:t>
            </a:r>
            <a:r>
              <a:rPr sz="1050" b="0">
                <a:solidFill>
                  <a:srgbClr val="6B7787"/>
                </a:solidFill>
                <a:latin typeface="Avenir Next"/>
              </a:rPr>
              <a:t>Fama &amp; French (1992, 1993); Basu (1977).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09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3 · THE FOUR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Momentum: recent strength tends to continue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1F2A37"/>
                </a:solidFill>
                <a:latin typeface="Avenir Next"/>
              </a:rPr>
              <a:t>Stocks that have outperformed over the past year have tended to keep outperforming over the next months.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9087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We measure the price change over the past year,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skipping the most recent month, which tends to reverse.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P is the share price;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the subscripts count trading days back from today (252 days is about one year, 21 is about one month).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The result is then put on the same 0-centred scale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as the other factors.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10908792" cy="12801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5546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HOW IT IS MEASURED</a:t>
            </a:r>
          </a:p>
        </p:txBody>
      </p:sp>
      <p:pic>
        <p:nvPicPr>
          <p:cNvPr id="11" name="Picture 10" descr="f_m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6029" y="5166360"/>
            <a:ext cx="4256893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99048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6B7787"/>
                </a:solidFill>
                <a:latin typeface="Avenir Next"/>
              </a:rPr>
              <a:t>Foundational research:  </a:t>
            </a:r>
            <a:r>
              <a:rPr sz="1050" b="0">
                <a:solidFill>
                  <a:srgbClr val="6B7787"/>
                </a:solidFill>
                <a:latin typeface="Avenir Next"/>
              </a:rPr>
              <a:t>Jegadeesh &amp; Titman (1993); Asness, Moskowitz &amp; Pedersen (2013).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3 · THE FOUR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Quality: profitable, well-run businesses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1F2A37"/>
                </a:solidFill>
                <a:latin typeface="Avenir Next"/>
              </a:rPr>
              <a:t>Highly profitable, efficient companies have delivered better risk-adjusted returns over 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9087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Return on equity (ROE):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annual profit as a percentage of shareholders' money. Higher is better.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Margin (gross margin):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the share of revenue left after the direct cost of goods. Higher means more pricing power.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Quality companies also tend to hold up better in downturns,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which adds a defensive tilt without any market timing.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10908792" cy="12801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5546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HOW IT IS MEASURED</a:t>
            </a:r>
          </a:p>
        </p:txBody>
      </p:sp>
      <p:pic>
        <p:nvPicPr>
          <p:cNvPr id="11" name="Picture 10" descr="f_q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905" y="5166360"/>
            <a:ext cx="7607142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99048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6B7787"/>
                </a:solidFill>
                <a:latin typeface="Avenir Next"/>
              </a:rPr>
              <a:t>Foundational research:  </a:t>
            </a:r>
            <a:r>
              <a:rPr sz="1050" b="0">
                <a:solidFill>
                  <a:srgbClr val="6B7787"/>
                </a:solidFill>
                <a:latin typeface="Avenir Next"/>
              </a:rPr>
              <a:t>Novy-Marx (2013); Asness, Frazzini &amp; Pedersen (2019); Piotroski (2000).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3 · THE FOUR FACTORS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Low volatility: steadier stocks, better risk-adjusted returns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>
                <a:solidFill>
                  <a:srgbClr val="1F2A37"/>
                </a:solidFill>
                <a:latin typeface="Avenir Next"/>
              </a:rPr>
              <a:t>Calmer stocks have historically delivered stronger returns per unit of risk than the most volatile 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10908792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Volatility (σ):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how much a stock's daily price bounces around, measured over the past year. Higher means a wilder ride.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We score the negative of volatility,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so a calmer stock receives a higher score.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Together with Quality,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this is what makes the portfolio defensive on its own, without a separate risk-off switch.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709160"/>
            <a:ext cx="10908792" cy="12801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55464"/>
            <a:ext cx="103601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HOW IT IS MEASURED</a:t>
            </a:r>
          </a:p>
        </p:txBody>
      </p:sp>
      <p:pic>
        <p:nvPicPr>
          <p:cNvPr id="11" name="Picture 10" descr="f_lowv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100" y="5166360"/>
            <a:ext cx="4940752" cy="822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099048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>
                <a:solidFill>
                  <a:srgbClr val="6B7787"/>
                </a:solidFill>
                <a:latin typeface="Avenir Next"/>
              </a:rPr>
              <a:t>Foundational research:  </a:t>
            </a:r>
            <a:r>
              <a:rPr sz="1050" b="0">
                <a:solidFill>
                  <a:srgbClr val="6B7787"/>
                </a:solidFill>
                <a:latin typeface="Avenir Next"/>
              </a:rPr>
              <a:t>Ang, Hodrick, Xing &amp; Zhang (2006); Frazzini &amp; Pedersen (2014); Baker, Bradley &amp; Wurgler (2011).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3 · THE FACTOR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Combining the four into one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Equal weight, with safeguards that keep the comparison fair and honest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5778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Equal weight to start.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Each factor counts for one quarter of the score. With no strong reason to favour one, equal weighting is the most defensible starting point.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Extreme values are trimmed before scoring.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A handful of outliers cannot distort the scale, so all four factors genuinely count equally.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Only public information is used.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A company's financials enter the score only once they have actually been filed, so the historical test never sees the future.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670048"/>
            <a:ext cx="5029200" cy="137160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281635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THE COMBINED SCORE</a:t>
            </a:r>
          </a:p>
        </p:txBody>
      </p:sp>
      <p:pic>
        <p:nvPicPr>
          <p:cNvPr id="11" name="Picture 10" descr="f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59" y="3141002"/>
            <a:ext cx="4480560" cy="88689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4270248"/>
            <a:ext cx="5029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787"/>
                </a:solidFill>
                <a:latin typeface="Avenir Next"/>
              </a:rPr>
              <a:t>Q, V, M, L are the four factor scores. The highest combined scores become the portfolio.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Building the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Turning scores into holdings, inside strict risk limits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4 · BUILDING THE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From scores to holdings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The scores choose the names. Hard limits keep the portfolio diversified.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57784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Rank by combined score.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The top-scoring names are the candidates to hold.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Maximise total score, subject to limits.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A standard optimiser sets the weights to favour the best-scoring names while respecting every limit below.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50" b="1">
                <a:solidFill>
                  <a:srgbClr val="1F2A37"/>
                </a:solidFill>
                <a:latin typeface="Avenir Next"/>
              </a:rPr>
              <a:t>The result is roughly equal-weight across about 20 stocks. </a:t>
            </a:r>
            <a:r>
              <a:rPr sz="1450" b="0">
                <a:solidFill>
                  <a:srgbClr val="1F2A37"/>
                </a:solidFill>
                <a:latin typeface="Avenir Next"/>
              </a:rPr>
              <a:t>Equal-weight factor portfolios have travelled well in out-of-sample testing.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624328"/>
            <a:ext cx="5029200" cy="12344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2770632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WHAT THE OPTIMISER SOLVES</a:t>
            </a:r>
          </a:p>
        </p:txBody>
      </p:sp>
      <p:pic>
        <p:nvPicPr>
          <p:cNvPr id="11" name="Picture 10" descr="f_ob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94" y="3081528"/>
            <a:ext cx="2717489" cy="7772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92240" y="4087368"/>
            <a:ext cx="5029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7787"/>
                </a:solidFill>
                <a:latin typeface="Avenir Next"/>
              </a:rPr>
              <a:t>w is each stock's weight; score is its combined factor score. Read: choose weights that put the most money in the best-scoring names.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4 · BUILDING THE 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The limits are the risk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Diversification is enforced by rule, not left to chance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212848"/>
            <a:ext cx="5212080" cy="123444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12848"/>
            <a:ext cx="82296" cy="1234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32257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5% maximum per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633472"/>
            <a:ext cx="49011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No single name can dominate. This is what sets the holding count near 20.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2212848"/>
            <a:ext cx="5212080" cy="123444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45352" y="2212848"/>
            <a:ext cx="82296" cy="1234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32257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30% maximum per sector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633472"/>
            <a:ext cx="49011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No single industry can take over the book.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630168"/>
            <a:ext cx="5212080" cy="123444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630168"/>
            <a:ext cx="82296" cy="1234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73989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~20 holdings, near equal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050792"/>
            <a:ext cx="49011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Broad enough to diversify, focused enough to matter.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45352" y="3630168"/>
            <a:ext cx="5212080" cy="1234440"/>
          </a:xfrm>
          <a:prstGeom prst="roundRect">
            <a:avLst>
              <a:gd name="adj" fmla="val 10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45352" y="3630168"/>
            <a:ext cx="82296" cy="1234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3739896"/>
            <a:ext cx="490118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0E1B2A"/>
                </a:solidFill>
                <a:latin typeface="Avenir Next"/>
              </a:rPr>
              <a:t>95% invested, 5% cash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050792"/>
            <a:ext cx="4901184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A stable allocation at all times, with a small cash buffer.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The income overlay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Earning option premium on the stocks we already own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5 · THE INCOME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Selling covered calls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We sell call options on our holdings and keep the cash premium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48640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Call option: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a contract that lets its buyer purchase our stock at a fixed “strike” price before a set date. We sell that right.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Premium: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the cash the buyer pays us up front. We keep it in every outcome.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If the stock stays below the strike,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the option expires worthless and we simply keep the premium and the stock.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If it rises above the strike,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the stock is sold at the strike. We keep the premium and the gain up to that point, but give up the gain beyond it.</a:t>
            </a:r>
          </a:p>
        </p:txBody>
      </p:sp>
      <p:pic>
        <p:nvPicPr>
          <p:cNvPr id="9" name="Picture 8" descr="pay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21408"/>
            <a:ext cx="5257800" cy="25946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5 · THE INCOME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Choosing which call to sell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The rule is consistent across every stock, with no discretion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Delta, about 0.30.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Delta estimates the chance the option ends up being exercised. Targeting 0.30 means roughly a 30% chance the stock is sold at the strike. Low enough to keep most of the upside, high enough to collect meaningful premium.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Strikes set by probability, not a fixed percentage.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Using delta adapts the strike to each stock automatically. A calm stock and a volatile one get the same ~30% odds.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Expiring in 30 to 45 days.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Long enough to collect a worthwhile premium, short enough to refresh monthly with the rest of the portfolio.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Sold at the quoted middle price.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We take a fair price from the live option market rather than chasing.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5 · THE INCOME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Managing the options through the month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One simple monthly cycle, repeated against each new set of holdings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58568"/>
            <a:ext cx="10908792" cy="283779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458968"/>
            <a:ext cx="109087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350" b="1">
                <a:solidFill>
                  <a:srgbClr val="1F2A37"/>
                </a:solidFill>
                <a:latin typeface="Avenir Next"/>
              </a:rPr>
              <a:t>Closed early before earnings, then rewritten afterward, </a:t>
            </a:r>
            <a:r>
              <a:rPr sz="1350" b="0">
                <a:solidFill>
                  <a:srgbClr val="1F2A37"/>
                </a:solidFill>
                <a:latin typeface="Avenir Next"/>
              </a:rPr>
              <a:t>because an earnings announcement can cause a large, unpredictable jump.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350" b="1">
                <a:solidFill>
                  <a:srgbClr val="1F2A37"/>
                </a:solidFill>
                <a:latin typeface="Avenir Next"/>
              </a:rPr>
              <a:t>Re-entered only if still wanted. </a:t>
            </a:r>
            <a:r>
              <a:rPr sz="1350" b="0">
                <a:solidFill>
                  <a:srgbClr val="1F2A37"/>
                </a:solidFill>
                <a:latin typeface="Avenir Next"/>
              </a:rPr>
              <a:t>If a stock is sold through an option, it is bought back only when it still ranks well, never chased above the strike.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5 · THE INCOME OVERLAY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An honest limit on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The overlay covers most, but not all, of the portfolio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Options trade in blocks of 100 shares.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A stock position must be at least 100 shares before we can sell a call against it.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Some positions are too small to cover.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On higher-priced stocks, a normal position can fall short of 100 shares, so part of the book earns no premium.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This is a known constraint, not a flaw in the idea.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Position sizing and the investable amount determine how much of the book the overlay can reach, and that is managed deliberately.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The 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Where the numbers come from, and how they stay trustworthy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6 · THE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The same sequence runs every trading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Fully automated, and checked against the broker before any order is placed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468880"/>
            <a:ext cx="1572768" cy="1234440"/>
          </a:xfrm>
          <a:prstGeom prst="roundRect">
            <a:avLst>
              <a:gd name="adj" fmla="val 10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688336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Gather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27248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B4C2CE"/>
                </a:solidFill>
                <a:latin typeface="Avenir Next"/>
              </a:rPr>
              <a:t>prices and
financials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231136" y="2939796"/>
            <a:ext cx="256032" cy="292608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05456" y="2468880"/>
            <a:ext cx="1572768" cy="1234440"/>
          </a:xfrm>
          <a:prstGeom prst="roundRect">
            <a:avLst>
              <a:gd name="adj" fmla="val 10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05456" y="2688336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Score stocks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51176" y="3127248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B4C2CE"/>
                </a:solidFill>
                <a:latin typeface="Avenir Next"/>
              </a:rPr>
              <a:t>the four
factors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096511" y="2939796"/>
            <a:ext cx="256032" cy="292608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70832" y="2468880"/>
            <a:ext cx="1572768" cy="1234440"/>
          </a:xfrm>
          <a:prstGeom prst="roundRect">
            <a:avLst>
              <a:gd name="adj" fmla="val 10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70832" y="2688336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Build portfolio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3127248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B4C2CE"/>
                </a:solidFill>
                <a:latin typeface="Avenir Next"/>
              </a:rPr>
              <a:t>weights and
limits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961888" y="2939796"/>
            <a:ext cx="256032" cy="292608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36208" y="2468880"/>
            <a:ext cx="1572768" cy="1234440"/>
          </a:xfrm>
          <a:prstGeom prst="roundRect">
            <a:avLst>
              <a:gd name="adj" fmla="val 10000"/>
            </a:avLst>
          </a:prstGeom>
          <a:solidFill>
            <a:srgbClr val="0E8C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6208" y="2688336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Add overlay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8" y="3127248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B4C2CE"/>
                </a:solidFill>
                <a:latin typeface="Avenir Next"/>
              </a:rPr>
              <a:t>covered
calls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827264" y="2939796"/>
            <a:ext cx="256032" cy="292608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01583" y="2468880"/>
            <a:ext cx="1572768" cy="1234440"/>
          </a:xfrm>
          <a:prstGeom prst="roundRect">
            <a:avLst>
              <a:gd name="adj" fmla="val 10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1583" y="2688336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Risk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47304" y="3127248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B4C2CE"/>
                </a:solidFill>
                <a:latin typeface="Avenir Next"/>
              </a:rPr>
              <a:t>pre-trade
review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92640" y="2939796"/>
            <a:ext cx="256032" cy="292608"/>
          </a:xfrm>
          <a:prstGeom prst="rightArrow">
            <a:avLst>
              <a:gd name="adj1" fmla="val 55000"/>
              <a:gd name="adj2" fmla="val 6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66959" y="2468880"/>
            <a:ext cx="1572768" cy="1234440"/>
          </a:xfrm>
          <a:prstGeom prst="roundRect">
            <a:avLst>
              <a:gd name="adj" fmla="val 10000"/>
            </a:avLst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59" y="2688336"/>
            <a:ext cx="15727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Avenir Next"/>
              </a:rPr>
              <a:t>Place 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3127248"/>
            <a:ext cx="14813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B4C2CE"/>
                </a:solidFill>
                <a:latin typeface="Avenir Next"/>
              </a:rPr>
              <a:t>send to
broker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343400"/>
            <a:ext cx="1090879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1F2A37"/>
                </a:solidFill>
                <a:latin typeface="Avenir Next"/>
              </a:rPr>
              <a:t>The portfolio is rebalanced once a month. The rest of the time the system monitors positions, manages the options, and keeps its records aligned with the broker.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6 · THE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Three data sources, each with a clear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A small, low-cost, auditable set of inputs feeding the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ata_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805" y="2075688"/>
            <a:ext cx="9747341" cy="434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6 · THE 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Keeping the data trustworthy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The unglamorous half of the work, and where many strategies quietly fail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ntegrity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1408"/>
            <a:ext cx="10908792" cy="4030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Execution, risk and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How orders are placed, how risk is controlled, and how it tested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7 · EXECUTION AND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How orders reach the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Order type is chosen to balance certainty of filling against control of price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075688"/>
          <a:ext cx="10908792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2286000"/>
                <a:gridCol w="569671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venir Next"/>
                        </a:rPr>
                        <a:t>Situation</a:t>
                      </a:r>
                    </a:p>
                  </a:txBody>
                  <a:tcPr anchor="ctr" marL="73152" marR="73152" marT="73152" marB="73152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venir Next"/>
                        </a:rPr>
                        <a:t>Order type</a:t>
                      </a:r>
                    </a:p>
                  </a:txBody>
                  <a:tcPr anchor="ctr" marL="73152" marR="73152" marT="73152" marB="73152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Avenir Next"/>
                        </a:rPr>
                        <a:t>Why</a:t>
                      </a:r>
                    </a:p>
                  </a:txBody>
                  <a:tcPr anchor="ctr" marL="73152" marR="73152" marT="73152" marB="73152">
                    <a:solidFill>
                      <a:srgbClr val="0E1B2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Large, highly liquid stock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Market order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Fills immediately, with negligible price impact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Less liquid stock</a:t>
                      </a:r>
                    </a:p>
                  </a:txBody>
                  <a:tcPr anchor="ctr" marL="73152" marR="73152" marT="73152" marB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Marketable limit</a:t>
                      </a:r>
                    </a:p>
                  </a:txBody>
                  <a:tcPr anchor="ctr" marL="73152" marR="73152" marT="73152" marB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Fills the same session while bounding the price paid</a:t>
                      </a:r>
                    </a:p>
                  </a:txBody>
                  <a:tcPr anchor="ctr" marL="73152" marR="73152" marT="73152" marB="73152">
                    <a:solidFill>
                      <a:srgbClr val="F4F7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Selling a covered call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Limit at mid-price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Takes a fair premium without chasing the market</a:t>
                      </a:r>
                    </a:p>
                  </a:txBody>
                  <a:tcPr anchor="ctr" marL="73152" marR="73152" marT="73152" marB="73152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Closing a call near expiry</a:t>
                      </a:r>
                    </a:p>
                  </a:txBody>
                  <a:tcPr anchor="ctr" marL="73152" marR="73152" marT="73152" marB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Market order</a:t>
                      </a:r>
                    </a:p>
                  </a:txBody>
                  <a:tcPr anchor="ctr" marL="73152" marR="73152" marT="73152" marB="73152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Prioritises certainty of closing the position</a:t>
                      </a:r>
                    </a:p>
                  </a:txBody>
                  <a:tcPr anchor="ctr" marL="73152" marR="73152" marT="73152" marB="73152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818888"/>
            <a:ext cx="1090879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350" b="1">
                <a:solidFill>
                  <a:srgbClr val="1F2A37"/>
                </a:solidFill>
                <a:latin typeface="Avenir Next"/>
              </a:rPr>
              <a:t>Timing. </a:t>
            </a:r>
            <a:r>
              <a:rPr sz="1350" b="0">
                <a:solidFill>
                  <a:srgbClr val="1F2A37"/>
                </a:solidFill>
                <a:latin typeface="Avenir Next"/>
              </a:rPr>
              <a:t>The monthly rebalance runs mid-session, leaving a liquid window before the close for orders to fill.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350" b="1">
                <a:solidFill>
                  <a:srgbClr val="1F2A37"/>
                </a:solidFill>
                <a:latin typeface="Avenir Next"/>
              </a:rPr>
              <a:t>Unfilled orders. </a:t>
            </a:r>
            <a:r>
              <a:rPr sz="1350" b="0">
                <a:solidFill>
                  <a:srgbClr val="1F2A37"/>
                </a:solidFill>
                <a:latin typeface="Avenir Next"/>
              </a:rPr>
              <a:t>Cancelled after a short window and completed at the next run. Nothing is left resting overnight.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7 · EXECUTION AND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Controlling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For a capital-preservation mandate, this is the most important part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isk_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21408"/>
            <a:ext cx="10908792" cy="40301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7 · EXECUTION AND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How the strategy was tested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A walk-forward simulation over 2021 to 2026, designed to resist over-fitting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ethod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350008"/>
            <a:ext cx="10908792" cy="2659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5458968"/>
            <a:ext cx="10908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>
                <a:solidFill>
                  <a:srgbClr val="1F2A37"/>
                </a:solidFill>
                <a:latin typeface="Avenir Next"/>
              </a:rPr>
              <a:t>Each month, the strategy runs on only the information available at the time, exactly as it would run live. The results, and their limitations, follow.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7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How the strategy performed in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The most dependable result is lower risk: smaller swings and shallower losses than the market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isk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75688"/>
            <a:ext cx="6675120" cy="387427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52360" y="2121408"/>
            <a:ext cx="4096512" cy="1207008"/>
          </a:xfrm>
          <a:prstGeom prst="roundRect">
            <a:avLst>
              <a:gd name="adj" fmla="val 7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52360" y="2121408"/>
            <a:ext cx="82296" cy="1207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2121408"/>
            <a:ext cx="178308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>
                <a:solidFill>
                  <a:srgbClr val="0E8C7E"/>
                </a:solidFill>
                <a:latin typeface="Avenir Next"/>
              </a:rPr>
              <a:t>−16.7%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121408"/>
            <a:ext cx="20574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Worst loss (drawdown) in the test,
vs. −24% for the S&amp;P 500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3493008"/>
            <a:ext cx="4096512" cy="1207008"/>
          </a:xfrm>
          <a:prstGeom prst="roundRect">
            <a:avLst>
              <a:gd name="adj" fmla="val 7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52360" y="3493008"/>
            <a:ext cx="82296" cy="1207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08392" y="3493008"/>
            <a:ext cx="178308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>
                <a:solidFill>
                  <a:srgbClr val="0E1B2A"/>
                </a:solidFill>
                <a:latin typeface="Avenir Next"/>
              </a:rPr>
              <a:t>15.5%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493008"/>
            <a:ext cx="20574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Volatility, the size of the swings,
vs. 16% for the S&amp;P 500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4864608"/>
            <a:ext cx="4096512" cy="1207008"/>
          </a:xfrm>
          <a:prstGeom prst="roundRect">
            <a:avLst>
              <a:gd name="adj" fmla="val 7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52360" y="4864608"/>
            <a:ext cx="82296" cy="1207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08392" y="4864608"/>
            <a:ext cx="178308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900" b="1">
                <a:solidFill>
                  <a:srgbClr val="0E1B2A"/>
                </a:solidFill>
                <a:latin typeface="Avenir Next"/>
              </a:rPr>
              <a:t>1.24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864608"/>
            <a:ext cx="2057400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6B7787"/>
                </a:solidFill>
                <a:latin typeface="Avenir Next"/>
              </a:rPr>
              <a:t>Risk-adjusted return in the test,
vs. 0.87 for the S&amp;P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10908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1F2A37"/>
                </a:solidFill>
                <a:latin typeface="Avenir Next"/>
              </a:rPr>
              <a:t>Sharpe ratio</a:t>
            </a:r>
            <a:r>
              <a:rPr sz="1050" b="0">
                <a:solidFill>
                  <a:srgbClr val="6B7787"/>
                </a:solidFill>
                <a:latin typeface="Avenir Next"/>
              </a:rPr>
              <a:t> is return per unit of risk; </a:t>
            </a:r>
            <a:r>
              <a:rPr sz="1050" b="1">
                <a:solidFill>
                  <a:srgbClr val="1F2A37"/>
                </a:solidFill>
                <a:latin typeface="Avenir Next"/>
              </a:rPr>
              <a:t>drawdown</a:t>
            </a:r>
            <a:r>
              <a:rPr sz="1050" b="0">
                <a:solidFill>
                  <a:srgbClr val="6B7787"/>
                </a:solidFill>
                <a:latin typeface="Avenir Next"/>
              </a:rPr>
              <a:t> is the largest peak-to-trough loss. Benchmarks are from index history; strategy figures from the simulation. Simulated and paper-traded, not live capital. Limitations on the next slide.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7 ·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How to read these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The results are encouraging, but they carry real limitations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212848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Simulated, not live.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A historical simulation and paper trading, not a track record, and not a prediction of future returns.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One favourable period.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The 2021 to 2026 window had specific conditions. A sustained bull market would likely show lower relative returns.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Premium is partly modeled.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Where real option prices are unavailable, the premium is estimated, so the overlay's contribution is uncertain.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04" y="2121408"/>
            <a:ext cx="15240" cy="393192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212848"/>
            <a:ext cx="521208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Costs are estimates.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Real trading costs, taxes, and slippage may run higher than modeled.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Mild hindsight in the data.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Some company financials are restated over time, making the factor results modestly optimistic.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Figures are unlevered. </a:t>
            </a:r>
            <a:r>
              <a:rPr sz="1400" b="0">
                <a:solidFill>
                  <a:srgbClr val="1F2A37"/>
                </a:solidFill>
                <a:latin typeface="Avenir Next"/>
              </a:rPr>
              <a:t>Leverage would scale both returns and losses: larger gains, but larger drawdowns.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943600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The real verdict comes from live paper trading on real prices, not from more simulation.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A live, monitored system, running on its own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8 ·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Monitoring: a live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A single page gives the full picture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Overview.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Account value and cash to the cent, daily profit, and a single health bar covering the engine, the market clock, the next rebalance, and any alerts.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Portfolio.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Holdings against target, sector and concentration breakdowns, the portfolio's factor tilt, the covered calls, and recent activity.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Performance.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Growth against the S&amp;P 500 and the BuyWrite index, risk measures, and a breakdown of trading costs and option premium.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Always current.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The dashboard updates itself from the live account, so it reflects the real state rather than a stale snapshot.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8 ·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Infrastructure and safeguards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Reliable, low-maintenance plumbing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Runs unattended in the cloud.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Hosted on a dedicated server that runs the daily process and the dashboard on a fixed schedule.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Restart-safe.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Every component restarts automatically, with a watchdog that checks the system is alive.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Backed up nightly.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The operational database is copied to cloud storage each night, with a retention policy.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Alerts by email.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The system emails on the events that matter, such as a failed run or a risk check that blocks a trade.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Shared securely.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The dashboard is viewable read-only behind a password.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Status and outlook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Where the build stands, and what remains before live capital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9 · STATUS AND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Where the build stands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Built, tested, and paper-trading, with one verification step ahead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10908792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The full strategy is built and tested.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Data, factor scoring, portfolio construction, the options overlay, execution, and risk controls are all in place.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1F2A37"/>
                </a:solidFill>
                <a:latin typeface="Avenir Next"/>
              </a:rPr>
              <a:t>It is running on a paper account. </a:t>
            </a:r>
            <a:r>
              <a:rPr sz="1600" b="0">
                <a:solidFill>
                  <a:srgbClr val="1F2A37"/>
                </a:solidFill>
                <a:latin typeface="Avenir Next"/>
              </a:rPr>
              <a:t>The system trades a simulated account with live market data, monitored by the dashboard.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6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600" b="1">
                <a:solidFill>
                  <a:srgbClr val="0E8C7E"/>
                </a:solidFill>
                <a:latin typeface="Avenir Next"/>
              </a:rPr>
              <a:t>The remaining step is live-paper verification. </a:t>
            </a:r>
            <a:r>
              <a:rPr sz="1600" b="0">
                <a:solidFill>
                  <a:srgbClr val="0E1B2A"/>
                </a:solidFill>
                <a:latin typeface="Avenir Next"/>
              </a:rPr>
              <a:t>Confirm the full strategy fills, prices, and behaves correctly on the real account before any discussion of live capital.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30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9 · STATUS AND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Risks and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Risks we monitor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Crowding in factors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 b="0">
                <a:solidFill>
                  <a:srgbClr val="6B7787"/>
                </a:solidFill>
                <a:latin typeface="Avenir Next"/>
              </a:rPr>
              <a:t>        ·  </a:t>
            </a:r>
            <a:r>
              <a:rPr sz="1200" b="0">
                <a:solidFill>
                  <a:srgbClr val="6B7787"/>
                </a:solidFill>
                <a:latin typeface="Avenir Next"/>
              </a:rPr>
              <a:t>tracked by per-factor performance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Capped upside in strong rallies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 b="0">
                <a:solidFill>
                  <a:srgbClr val="6B7787"/>
                </a:solidFill>
                <a:latin typeface="Avenir Next"/>
              </a:rPr>
              <a:t>        ·  </a:t>
            </a:r>
            <a:r>
              <a:rPr sz="1200" b="0">
                <a:solidFill>
                  <a:srgbClr val="6B7787"/>
                </a:solidFill>
                <a:latin typeface="Avenir Next"/>
              </a:rPr>
              <a:t>the deliberate cost of the overlay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Data-source reliability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 b="0">
                <a:solidFill>
                  <a:srgbClr val="6B7787"/>
                </a:solidFill>
                <a:latin typeface="Avenir Next"/>
              </a:rPr>
              <a:t>        ·  </a:t>
            </a:r>
            <a:r>
              <a:rPr sz="1200" b="0">
                <a:solidFill>
                  <a:srgbClr val="6B7787"/>
                </a:solidFill>
                <a:latin typeface="Avenir Next"/>
              </a:rPr>
              <a:t>clean universe, reconciled each run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The gap from test to live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 b="0">
                <a:solidFill>
                  <a:srgbClr val="6B7787"/>
                </a:solidFill>
                <a:latin typeface="Avenir Next"/>
              </a:rPr>
              <a:t>        ·  </a:t>
            </a:r>
            <a:r>
              <a:rPr sz="1200" b="0">
                <a:solidFill>
                  <a:srgbClr val="6B7787"/>
                </a:solidFill>
                <a:latin typeface="Avenir Next"/>
              </a:rPr>
              <a:t>what paper trading is there to close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089904" y="1737360"/>
            <a:ext cx="15240" cy="4206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0E1B2A"/>
                </a:solidFill>
                <a:latin typeface="Avenir Next"/>
              </a:rPr>
              <a:t>What comes next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52120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Live-paper verification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 b="0">
                <a:solidFill>
                  <a:srgbClr val="6B7787"/>
                </a:solidFill>
                <a:latin typeface="Avenir Next"/>
              </a:rPr>
              <a:t>        ·  </a:t>
            </a:r>
            <a:r>
              <a:rPr sz="1200" b="0">
                <a:solidFill>
                  <a:srgbClr val="6B7787"/>
                </a:solidFill>
                <a:latin typeface="Avenir Next"/>
              </a:rPr>
              <a:t>the immediate milestone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Refine factor weights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 b="0">
                <a:solidFill>
                  <a:srgbClr val="6B7787"/>
                </a:solidFill>
                <a:latin typeface="Avenir Next"/>
              </a:rPr>
              <a:t>        ·  </a:t>
            </a:r>
            <a:r>
              <a:rPr sz="1200" b="0">
                <a:solidFill>
                  <a:srgbClr val="6B7787"/>
                </a:solidFill>
                <a:latin typeface="Avenir Next"/>
              </a:rPr>
              <a:t>after more live evidence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Broaden the income overlay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 b="0">
                <a:solidFill>
                  <a:srgbClr val="6B7787"/>
                </a:solidFill>
                <a:latin typeface="Avenir Next"/>
              </a:rPr>
              <a:t>        ·  </a:t>
            </a:r>
            <a:r>
              <a:rPr sz="1200" b="0">
                <a:solidFill>
                  <a:srgbClr val="6B7787"/>
                </a:solidFill>
                <a:latin typeface="Avenir Next"/>
              </a:rPr>
              <a:t>more coverage, additional option strategies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400" b="1">
                <a:solidFill>
                  <a:srgbClr val="14B8A6"/>
                </a:solidFill>
                <a:latin typeface="Avenir Next"/>
              </a:rPr>
              <a:t>▪  </a:t>
            </a:r>
            <a:r>
              <a:rPr sz="1400" b="1">
                <a:solidFill>
                  <a:srgbClr val="1F2A37"/>
                </a:solidFill>
                <a:latin typeface="Avenir Next"/>
              </a:rPr>
              <a:t>Define the go-live criteria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200" b="0">
                <a:solidFill>
                  <a:srgbClr val="6B7787"/>
                </a:solidFill>
                <a:latin typeface="Avenir Next"/>
              </a:rPr>
              <a:t>        ·  </a:t>
            </a:r>
            <a:r>
              <a:rPr sz="1200" b="0">
                <a:solidFill>
                  <a:srgbClr val="6B7787"/>
                </a:solidFill>
                <a:latin typeface="Avenir Next"/>
              </a:rPr>
              <a:t>before any real capital is committed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31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4B8A6"/>
                </a:solidFill>
                <a:latin typeface="Avenir Next"/>
              </a:rPr>
              <a:t>IN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63040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41732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venir Next"/>
              </a:rPr>
              <a:t>A disciplined factor portfolio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01368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venir Next"/>
              </a:rPr>
              <a:t>Four proven traits, computed transparently and weighted equally.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95728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50008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venir Next"/>
              </a:rPr>
              <a:t>An income overlay that lowers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734056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venir Next"/>
              </a:rPr>
              <a:t>Covered calls harvest a persistent premium and smooth the ride.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328415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28269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venir Next"/>
              </a:rPr>
              <a:t>Built for capital preservation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666744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venir Next"/>
              </a:rPr>
              <a:t>Firm diversification limits, a pre-trade risk check, and an emergency stop.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261104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215384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venir Next"/>
              </a:rPr>
              <a:t>Tested, and honest about its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4599432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venir Next"/>
              </a:rPr>
              <a:t>Strong risk-adjusted returns in a rigorous simulation, with the assumptions stated.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193792"/>
            <a:ext cx="118872" cy="64008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5148072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Avenir Next"/>
              </a:rPr>
              <a:t>Live and monitored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5532120"/>
            <a:ext cx="102412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A9B7C4"/>
                </a:solidFill>
                <a:latin typeface="Avenir Next"/>
              </a:rPr>
              <a:t>Running on a paper account, one verification step from the go-live discussion.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32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6400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0000" b="1">
                <a:solidFill>
                  <a:srgbClr val="2A4760"/>
                </a:solidFill>
                <a:latin typeface="Avenir Next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977639"/>
            <a:ext cx="2194560" cy="381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>
                <a:solidFill>
                  <a:srgbClr val="FFFFFF"/>
                </a:solidFill>
                <a:latin typeface="Avenir Next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2120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C7D2DD"/>
                </a:solidFill>
                <a:latin typeface="Avenir Next"/>
              </a:rPr>
              <a:t>Formulas, sources, detailed results, and a glossary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APPENDIX · A1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Factor formulas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212080" cy="155448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2938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VALUE</a:t>
            </a:r>
          </a:p>
        </p:txBody>
      </p:sp>
      <p:pic>
        <p:nvPicPr>
          <p:cNvPr id="9" name="Picture 8" descr="f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93152"/>
            <a:ext cx="4663440" cy="59153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245352" y="1783080"/>
            <a:ext cx="5212080" cy="155448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9672" y="192938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MOMENTUM</a:t>
            </a:r>
          </a:p>
        </p:txBody>
      </p:sp>
      <p:pic>
        <p:nvPicPr>
          <p:cNvPr id="12" name="Picture 11" descr="f_m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2338142"/>
            <a:ext cx="4663440" cy="901555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0080" y="3566160"/>
            <a:ext cx="5212080" cy="155448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3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QUALITY</a:t>
            </a:r>
          </a:p>
        </p:txBody>
      </p:sp>
      <p:pic>
        <p:nvPicPr>
          <p:cNvPr id="15" name="Picture 14" descr="f_qu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319748"/>
            <a:ext cx="4663440" cy="504502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6245352" y="3566160"/>
            <a:ext cx="5212080" cy="155448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9672" y="3712463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0E8C7E"/>
                </a:solidFill>
                <a:latin typeface="Avenir Next"/>
              </a:rPr>
              <a:t>LOW VOLATILITY</a:t>
            </a:r>
          </a:p>
        </p:txBody>
      </p:sp>
      <p:pic>
        <p:nvPicPr>
          <p:cNvPr id="18" name="Picture 17" descr="f_lowvo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4183615"/>
            <a:ext cx="4663440" cy="7767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0080" y="5394959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1B2A"/>
                </a:solidFill>
                <a:latin typeface="Avenir Next"/>
              </a:rPr>
              <a:t>z(·)</a:t>
            </a:r>
            <a:r>
              <a:rPr sz="1200" b="0">
                <a:solidFill>
                  <a:srgbClr val="6B7787"/>
                </a:solidFill>
                <a:latin typeface="Avenir Next"/>
              </a:rPr>
              <a:t> is the standardising score from slide 8; each factor is combined equally into the final score.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33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APPENDIX · A2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Selected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8C7E"/>
                </a:solidFill>
                <a:latin typeface="Avenir Next"/>
              </a:rPr>
              <a:t>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91640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Fama &amp; French (1992), The Cross-Section of Expected Stock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965960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Fama &amp; French (1993), Common Risk Factors in Stocks and Bonds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240280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Basu (1977), Investment Performance in Relation to P/E Ratios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42616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8C7E"/>
                </a:solidFill>
                <a:latin typeface="Avenir Next"/>
              </a:rPr>
              <a:t>Momentum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42616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Jegadeesh &amp; Titman (1993), Returns to Buying Winners and Selling Losers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916936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Carhart (1997), On Persistence in Mutual Fund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191256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Asness, Moskowitz &amp; Pedersen (2013), Value and Momentum Everywhere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59359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8C7E"/>
                </a:solidFill>
                <a:latin typeface="Avenir Next"/>
              </a:rPr>
              <a:t>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593592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Novy-Marx (2013), The Gross Profitability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867912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Asness, Frazzini &amp; Pedersen (2019), Quality Minus Junk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142232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Piotroski (2000), Value Investing and the F-Score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4456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8C7E"/>
                </a:solidFill>
                <a:latin typeface="Avenir Next"/>
              </a:rPr>
              <a:t>Low volatility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544568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Ang, Hodrick, Xing &amp; Zhang (2006), The Cross-Section of Volatility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18888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Frazzini &amp; Pedersen (2014), Betting Against Beta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093208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Baker, Bradley &amp; Wurgler (2011), Benchmarks as Limits to Arbitrage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95544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8C7E"/>
                </a:solidFill>
                <a:latin typeface="Avenir Next"/>
              </a:rPr>
              <a:t>Options 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495544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Whaley (2002), Return and Risk of the CBOE BuyWrite Index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5769864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Carr &amp; Wu (2009), Variance Risk Premiums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6044183"/>
            <a:ext cx="8778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1F2A37"/>
                </a:solidFill>
                <a:latin typeface="Avenir Next"/>
              </a:rPr>
              <a:t>·  Bakshi &amp; Kapadia (2003), Delta-Hedged Gains and the Volatility Premium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34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APPENDIX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Detailed results, 2021 to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Strategy figures from the walk-forward simulation; benchmarks from index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67128"/>
          <a:ext cx="10908792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1463040"/>
                <a:gridCol w="1371600"/>
                <a:gridCol w="1051560"/>
                <a:gridCol w="1417320"/>
                <a:gridCol w="1399032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</a:rPr>
                        <a:t>Annual return</a:t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</a:rPr>
                        <a:t>Volatility</a:t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</a:rPr>
                        <a:t>Sharpe</a:t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</a:rPr>
                        <a:t>Max drawdown</a:t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venir Next"/>
                        </a:rPr>
                        <a:t>Premium / yr</a:t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S&amp;P 500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+13.3%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16.0%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0.87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−23.9%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—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S&amp;P 500 BuyWrite (BXMD)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+10.2%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12.0%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0.87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−21.6%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—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Strategy, stocks only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+10.9%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~20%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0.62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−26%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—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Strategy + covered calls</a:t>
                      </a:r>
                    </a:p>
                  </a:txBody>
                  <a:tcPr anchor="ctr" marL="64008" marR="64008" marT="64008" marB="6400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+19.6%</a:t>
                      </a:r>
                    </a:p>
                  </a:txBody>
                  <a:tcPr anchor="ctr" marL="64008" marR="64008" marT="64008" marB="6400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15.5%</a:t>
                      </a:r>
                    </a:p>
                  </a:txBody>
                  <a:tcPr anchor="ctr" marL="64008" marR="64008" marT="64008" marB="6400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1.24</a:t>
                      </a:r>
                    </a:p>
                  </a:txBody>
                  <a:tcPr anchor="ctr" marL="64008" marR="64008" marT="64008" marB="6400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−16.7%</a:t>
                      </a:r>
                    </a:p>
                  </a:txBody>
                  <a:tcPr anchor="ctr" marL="64008" marR="64008" marT="64008" marB="64008">
                    <a:solidFill>
                      <a:srgbClr val="ECF6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~25%</a:t>
                      </a:r>
                    </a:p>
                  </a:txBody>
                  <a:tcPr anchor="ctr" marL="64008" marR="64008" marT="64008" marB="64008">
                    <a:solidFill>
                      <a:srgbClr val="ECF6F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E1B2A"/>
                          </a:solidFill>
                          <a:latin typeface="Avenir Next"/>
                        </a:rPr>
                        <a:t>Strategy + put-wheel (optional)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+18.7%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12.9%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1.40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−12.8%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F2A37"/>
                          </a:solidFill>
                          <a:latin typeface="Avenir Next"/>
                        </a:rPr>
                        <a:t>—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882896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6B7787"/>
                </a:solidFill>
                <a:latin typeface="Avenir Next"/>
              </a:rPr>
              <a:t>Benchmarks (S&amp;P 500 and BXMD) computed from total-return index history over Sep 2021 to Jun 2026, monthly. Strategy figures are from the walk-forward backtest on a 1x (unlevered) basis. All results are simulated or paper-traded, not live capital.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35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APPENDIX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The volatility premium, measured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The premium the overlay collects is real and persistent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78608"/>
            <a:ext cx="2521458" cy="18288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578608"/>
            <a:ext cx="2521458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62656"/>
            <a:ext cx="2521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800" b="1">
                <a:solidFill>
                  <a:srgbClr val="0E1B2A"/>
                </a:solidFill>
                <a:latin typeface="Avenir Next"/>
              </a:rPr>
              <a:t>+5.2 pts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13048"/>
            <a:ext cx="2247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B7787"/>
                </a:solidFill>
                <a:latin typeface="Avenir Next"/>
              </a:rPr>
              <a:t>Implied volatility sold (38.4%)
over realized (33.2%)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35857" y="2578608"/>
            <a:ext cx="2521458" cy="18288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5857" y="2578608"/>
            <a:ext cx="2521458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35857" y="2962656"/>
            <a:ext cx="2521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800" b="1">
                <a:solidFill>
                  <a:srgbClr val="0E1B2A"/>
                </a:solidFill>
                <a:latin typeface="Avenir Next"/>
              </a:rPr>
              <a:t>78%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3017" y="3813048"/>
            <a:ext cx="2247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B7787"/>
                </a:solidFill>
                <a:latin typeface="Avenir Next"/>
              </a:rPr>
              <a:t>of months with implied
above realized volatility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1636" y="2578608"/>
            <a:ext cx="2521458" cy="18288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2578608"/>
            <a:ext cx="2521458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1636" y="2962656"/>
            <a:ext cx="2521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800" b="1">
                <a:solidFill>
                  <a:srgbClr val="0E1B2A"/>
                </a:solidFill>
                <a:latin typeface="Avenir Next"/>
              </a:rPr>
              <a:t>1.16x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68796" y="3813048"/>
            <a:ext cx="2247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B7787"/>
                </a:solidFill>
                <a:latin typeface="Avenir Next"/>
              </a:rPr>
              <a:t>average implied-to-realized
volatility ratio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27413" y="2578608"/>
            <a:ext cx="2521458" cy="182880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DE4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27413" y="2578608"/>
            <a:ext cx="2521458" cy="8229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27413" y="2962656"/>
            <a:ext cx="25214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3800" b="1">
                <a:solidFill>
                  <a:srgbClr val="0E1B2A"/>
                </a:solidFill>
                <a:latin typeface="Avenir Next"/>
              </a:rPr>
              <a:t>22%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4574" y="3813048"/>
            <a:ext cx="2247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6B7787"/>
                </a:solidFill>
                <a:latin typeface="Avenir Next"/>
              </a:rPr>
              <a:t>of holdings called away
(within the 30% target)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27448"/>
            <a:ext cx="109087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6B7787"/>
                </a:solidFill>
                <a:latin typeface="Avenir Next"/>
              </a:rPr>
              <a:t>Most of the premium compensates the risk of occasional large single-stock moves. The 30-delta strike is chosen to cap exactly that risk, which is why the overlay improves returns even after accounting for 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36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APPENDIX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Key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1247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6B7787"/>
                </a:solidFill>
                <a:latin typeface="Avenir Next"/>
              </a:rPr>
              <a:t>Every setting lives in one configuration file, not scattered through the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847088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2167128"/>
          <a:ext cx="10908792" cy="3008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2743200"/>
                <a:gridCol w="2743200"/>
                <a:gridCol w="2587752"/>
              </a:tblGrid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Avenir Next"/>
                        </a:rPr>
                        <a:t>Setting</a:t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venir Next"/>
                        </a:rPr>
                        <a:t>Value</a:t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venir Next"/>
                        </a:rPr>
                        <a:t>Setting</a:t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venir Next"/>
                        </a:rPr>
                        <a:t>Value</a:t>
                      </a:r>
                    </a:p>
                  </a:txBody>
                  <a:tcPr anchor="ctr" marL="64008" marR="64008" marT="64008" marB="64008">
                    <a:solidFill>
                      <a:srgbClr val="0E1B2A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Universe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liquid US stocks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Max per stock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5%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Holdings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about 20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Max per sector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30%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Factor weights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25% each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Invested / cash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95% / 5%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Momentum window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12 months less 1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Volatility window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12 months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Call delta target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0.30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Call expiry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30 to 45 days</a:t>
                      </a:r>
                    </a:p>
                  </a:txBody>
                  <a:tcPr anchor="ctr" marL="64008" marR="64008" marT="64008" marB="64008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0E1B2A"/>
                          </a:solidFill>
                          <a:latin typeface="Avenir Next"/>
                        </a:rPr>
                        <a:t>Rebalance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monthly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Benchmarks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2A37"/>
                          </a:solidFill>
                          <a:latin typeface="Avenir Next"/>
                        </a:rPr>
                        <a:t>S&amp;P 500, BXMD</a:t>
                      </a:r>
                    </a:p>
                  </a:txBody>
                  <a:tcPr anchor="ctr" marL="64008" marR="64008" marT="64008" marB="64008">
                    <a:solidFill>
                      <a:srgbClr val="F4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37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310896" cy="10058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0E8C7E"/>
                </a:solidFill>
                <a:latin typeface="Avenir Next"/>
              </a:rPr>
              <a:t>APPENDIX · A6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4124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0E1B2A"/>
                </a:solidFill>
                <a:latin typeface="Avenir Next"/>
              </a:rPr>
              <a:t>Glossary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10908792" cy="15240"/>
          </a:xfrm>
          <a:prstGeom prst="rect">
            <a:avLst/>
          </a:prstGeom>
          <a:solidFill>
            <a:srgbClr val="E3E8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Factor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A company trait linked to higher long-run returns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059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z-score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24912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How far a value sits from the average, in standard deviations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63824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P/E, P/B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438144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Price vs. earnings, and price vs. net asset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877056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ROE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51376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Profit as a percentage of shareholders' money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90288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Volatility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864608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How much a price moves around, a measure of risk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30352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Call option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57784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The right to buy a stock at a set price by a set 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73736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Premium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01168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The cash received for selling an 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450592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Strike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724912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The fixed price at which an option can be exercised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3163824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Delta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3438144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An option's rough chance of being exercised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3877056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Implied volatility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4151376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The price movement the market expects, priced into options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590288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Assignment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864608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Being required to sell the stock when a call is exercised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5303520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0E1B2A"/>
                </a:solidFill>
                <a:latin typeface="Avenir Next"/>
              </a:rPr>
              <a:t>Sharpe ratio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5577840"/>
            <a:ext cx="53949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7787"/>
                </a:solidFill>
                <a:latin typeface="Avenir Next"/>
              </a:rPr>
              <a:t>Return earned per unit of risk taken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Systematic Factor Income Fund    ·   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6437376"/>
            <a:ext cx="1490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6B7787"/>
                </a:solidFill>
                <a:latin typeface="Avenir Next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