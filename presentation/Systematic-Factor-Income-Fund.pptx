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841248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0776" y="841248"/>
            <a:ext cx="155448" cy="1554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45952" y="841248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0" y="1106424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80776" y="1106424"/>
            <a:ext cx="155448" cy="1554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45952" y="1106424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0" y="1371600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0776" y="1371600"/>
            <a:ext cx="155448" cy="1554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45952" y="1371600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868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B8A6"/>
                </a:solidFill>
                <a:latin typeface="Avenir Next"/>
              </a:rPr>
              <a:t>PROPRIETARY INVESTMENT STRATEGY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03120"/>
            <a:ext cx="10881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FFFFF"/>
                </a:solidFill>
                <a:latin typeface="Avenir Next"/>
              </a:rPr>
              <a:t>Systematic Factor
Income Fund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160520"/>
            <a:ext cx="2377440" cy="317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389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C7D2DD"/>
                </a:solidFill>
                <a:latin typeface="Avenir Next"/>
              </a:rPr>
              <a:t>A rules-based equity portfolio with an options income overlay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Strategy overview</a:t>
            </a:r>
            <a:r>
              <a:rPr sz="1200" b="0">
                <a:solidFill>
                  <a:srgbClr val="8B99A8"/>
                </a:solidFill>
                <a:latin typeface="Avenir Next"/>
              </a:rPr>
              <a:t>        Confidential, for internal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this overview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10512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What the fund is built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5399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539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Why this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5399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Proven return drivers, plus an income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6974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factor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69748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The four traits we select stocks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140964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14096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Building the portfolio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4096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Turning scores into holdings, within strict limits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844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5844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income overlay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Earning option premium on what we 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027931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027931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data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027931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Where the numbers come from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7141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714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Execution, risk and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47141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How we trade, how we control risk, how it tested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1490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9149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Operations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91490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Monitoring and infrastructure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358383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358383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Status and outlook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358383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Where the build stands today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0186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80186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Appendix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580186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Formulas, sources, detailed results, glossary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A book built to diversify the firm with steady, risk-adjusted returns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the fund is built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mandate is risk-adjusted income and capital preservation, not maximum return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Preserve capital first.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Every design choice favours protecting the book over maximising return. Shallow drawdowns matter more than big years.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Produce uncorrelated returns.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return stream that diversifies the firm's core business rather than echoing it.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Stay explainable.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transparent, rules-based strategy with a long research record. Anyone can audit why a position is held.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Earn income steadily.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Option premium provides a recurring return that does not depend on the market rising.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it is, and what it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Stating the boundaries up front keeps the strategy disciplined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7568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WHAT IT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8716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48716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596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A systematic factor portfolio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0779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Rules select stocks on proven traits, rebalanced monthly.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2160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72160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83133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An options income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14223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Covered calls turn holdings into a recurring income stream.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5604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95604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0657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Broadly diversified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37667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About 20 stocks, with firm limits on any one name or sector.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07568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6B7787"/>
                </a:solidFill>
                <a:latin typeface="Avenir Next"/>
              </a:rPr>
              <a:t>WHAT IT IS NOT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48716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248716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2596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a forecasting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290779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black-box prediction of next month's returns.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372160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372160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74536" y="383133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market timing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4536" y="414223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attempt to call tops or bottoms. The factors carry the defense.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495604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495604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74536" y="50657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concentrated bets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4536" y="537667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large single-stock positions or thematic gambles.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Two engines, one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stock portfolio decides what we own. An overlay earns income on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4297680" cy="178308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venir Next"/>
              </a:rPr>
              <a:t>FACTOR STOCK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C7D2DD"/>
                </a:solidFill>
                <a:latin typeface="Avenir Next"/>
              </a:rPr>
              <a:t>About 20 stocks chosen on four
proven traits, rebalanced monthly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2468880"/>
            <a:ext cx="4297680" cy="178308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venir Next"/>
              </a:rPr>
              <a:t>COVERED-CALL OVERLAY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383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CCEEE9"/>
                </a:solidFill>
                <a:latin typeface="Avenir Next"/>
              </a:rPr>
              <a:t>Sell call options on those holdings
to collect cash premium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3154680"/>
            <a:ext cx="1554480" cy="41148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27432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6B7787"/>
                </a:solidFill>
                <a:latin typeface="Avenir Next"/>
              </a:rPr>
              <a:t>earns income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F2A37"/>
                </a:solidFill>
                <a:latin typeface="Avenir Next"/>
              </a:rPr>
              <a:t>Total return comes from two sources: </a:t>
            </a:r>
            <a:r>
              <a:rPr sz="1500" b="0">
                <a:solidFill>
                  <a:srgbClr val="1F2A37"/>
                </a:solidFill>
                <a:latin typeface="Avenir Next"/>
              </a:rPr>
              <a:t>the stocks we select, and the premium the overlay collects. The overlay also lowers the portfolio's volatility, in exchange for capping gains on any stock that rises sharply.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Why this approach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Built on durable, well-documented sources of return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2 · WHY THIS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Why proven factors, not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strategy relies on effects with a long academic and practical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Predicting short-term returns is the most crowded game in investing.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Thousands of funds chase the same price signals, and any edge erodes quickly.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Factors are paid for bearing risk, not for finding mistakes.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That is why they have persisted across decades and across markets, rather than being arbitraged away.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 rules-based portfolio is defensible.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It can be explained and audited, and it holds up to scrutiny during a weak stretch. A black-box model cannot.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It fits the mandate.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goal is durable, risk-adjusted income, which is exactly what factor premia and an options overlay are designed to provide.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2 · WHY THIS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Why an options income overlay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Options consistently trade richer than the price moves that follow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Implied volatility is the price movement the market expects,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and it is built into every option's price.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It usually runs higher than the movement that actually occurs.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Sellers of options are paid for that gap. It is a persistent, well-studied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We collect it on stock we already own.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Selling calls on our holdings turns that premium into income, with no extra capital tied up.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It also smooths the ride.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Premium cushions down months and lowers overall volatility, at the cost of capping the occasional very large gain.</a:t>
            </a:r>
          </a:p>
        </p:txBody>
      </p:sp>
      <p:pic>
        <p:nvPicPr>
          <p:cNvPr id="9" name="Picture 8" descr="v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5029200" cy="26306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factor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Four traits, measured the same way, combined into one score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we mean by a 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factor is a company trait that has historically earned higher long-run returns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F2A37"/>
                </a:solidFill>
                <a:latin typeface="Avenir Next"/>
              </a:rPr>
              <a:t>We score every stock on four such traits, combine the four scores into one, and hold the highest-ranked names. Each trait below is supported by decades of research.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35808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035808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3145536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56432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profitable, efficient companies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77056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877056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986784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inexpensive vs. fundamentals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18304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718304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828032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Momentum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138928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sustained recent strength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59552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559552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69280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Low volatility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5980176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steadier price behaviour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526280" y="4453128"/>
            <a:ext cx="640080" cy="4572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349240" y="3858768"/>
            <a:ext cx="2834640" cy="16916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680" y="4133088"/>
            <a:ext cx="26517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Combined
score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366760" y="4453128"/>
            <a:ext cx="640080" cy="4572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44000" y="3858768"/>
            <a:ext cx="2404872" cy="169164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4133088"/>
            <a:ext cx="2221992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Hold the
best ~20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Putting every company on the same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Each trait becomes a score showing how far a company sits from the average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F2A37"/>
                </a:solidFill>
                <a:latin typeface="Avenir Next"/>
              </a:rPr>
              <a:t>A score (a z-score) measures how far a company sits above or below the average, counted in standard deviations. A standard deviation is the usual gauge of how spread out a set of numbers is.
</a:t>
            </a:r>
            <a:r>
              <a:rPr sz="1500" b="0">
                <a:solidFill>
                  <a:srgbClr val="1F2A37"/>
                </a:solidFill>
                <a:latin typeface="Avenir Next"/>
              </a:rPr>
              <a:t>A score of +1 means one standard deviation better than average. Zero is exactly average.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24528"/>
            <a:ext cx="5486400" cy="12344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7083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A SCORE IS CALCULATED</a:t>
            </a:r>
          </a:p>
        </p:txBody>
      </p:sp>
      <p:pic>
        <p:nvPicPr>
          <p:cNvPr id="11" name="Picture 10" descr="f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497" y="4681728"/>
            <a:ext cx="1629565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5641848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0E1B2A"/>
                </a:solidFill>
                <a:latin typeface="Avenir Next"/>
              </a:rPr>
              <a:t>x</a:t>
            </a:r>
            <a:r>
              <a:rPr sz="1250" b="0">
                <a:solidFill>
                  <a:srgbClr val="6B7787"/>
                </a:solidFill>
                <a:latin typeface="Avenir Next"/>
              </a:rPr>
              <a:t> the company's value    </a:t>
            </a:r>
            <a:r>
              <a:rPr sz="1250" b="1">
                <a:solidFill>
                  <a:srgbClr val="0E1B2A"/>
                </a:solidFill>
                <a:latin typeface="Avenir Next"/>
              </a:rPr>
              <a:t>μ</a:t>
            </a:r>
            <a:r>
              <a:rPr sz="1250" b="0">
                <a:solidFill>
                  <a:srgbClr val="6B7787"/>
                </a:solidFill>
                <a:latin typeface="Avenir Next"/>
              </a:rPr>
              <a:t> the average    </a:t>
            </a:r>
            <a:r>
              <a:rPr sz="1250" b="1">
                <a:solidFill>
                  <a:srgbClr val="0E1B2A"/>
                </a:solidFill>
                <a:latin typeface="Avenir Next"/>
              </a:rPr>
              <a:t>σ</a:t>
            </a:r>
            <a:r>
              <a:rPr sz="1250" b="0">
                <a:solidFill>
                  <a:srgbClr val="6B7787"/>
                </a:solidFill>
                <a:latin typeface="Avenir Next"/>
              </a:rPr>
              <a:t> standard deviation</a:t>
            </a:r>
          </a:p>
        </p:txBody>
      </p:sp>
      <p:pic>
        <p:nvPicPr>
          <p:cNvPr id="13" name="Picture 12" descr="b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21408"/>
            <a:ext cx="5120640" cy="22321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Value: paying less for what you 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Cheaper stocks, judged against company fundamentals, have historically out-returned expensive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Price-to-earnings (P/E):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share price divided by yearly earnings per share. It shows how many dollars you pay for one dollar of profit. Lower is cheaper.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Price-to-book (P/B):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share price divided by net asset value per share. Lower is cheaper.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score the inverse (the yield),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 a lower price produces a higher Value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10908792" cy="141732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71830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81" y="5029200"/>
            <a:ext cx="3604390" cy="457199"/>
          </a:xfrm>
          <a:prstGeom prst="rect">
            <a:avLst/>
          </a:prstGeom>
        </p:spPr>
      </p:pic>
      <p:pic>
        <p:nvPicPr>
          <p:cNvPr id="12" name="Picture 11" descr="f_valu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3312" y="5422392"/>
            <a:ext cx="2122327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Fama &amp; French (1992, 1993); Basu (1977).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Momentum: recent strength tends to continue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Stocks that have outperformed over the past year have tended to keep outperforming over the next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measure the price change over the past year,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skipping the most recent month, which tends to reverse.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 is the share price;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subscripts count trading days back from today (252 days is about one year, 21 is about one month).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The result is then put on the same 0-centred scale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as the other factors.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546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m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6029" y="5166360"/>
            <a:ext cx="4256893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Jegadeesh &amp; Titman (1993); Asness, Moskowitz &amp; Pedersen (2013).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Quality: profitable, well-run businesses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Highly profitable, efficient companies have delivered better risk-adjusted returns over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Return on equity (ROE):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annual profit as a percentage of shareholders' money. Higher is better.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Margin (gross margin):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share of revenue left after the direct cost of goods. Higher means more pricing power.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Quality companies also tend to hold up better in downturns,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which adds a defensive tilt without any market timing.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546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q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905" y="5166360"/>
            <a:ext cx="760714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Novy-Marx (2013); Asness, Frazzini &amp; Pedersen (2019); Piotroski (2000).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Low volatility: steadier stocks, better risk-adjusted returns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Calmer stocks have historically delivered stronger returns per unit of risk than the most volatile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Volatility (σ):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how much a stock's daily price bounces around, measured over the past year. Higher means a wilder ride.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score the negative of volatility,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 a calmer stock receives a higher score.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Together with Quality,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this is what makes the portfolio defensive on its own, without a separate risk-off switch.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546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low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100" y="5166360"/>
            <a:ext cx="494075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Ang, Hodrick, Xing &amp; Zhang (2006); Frazzini &amp; Pedersen (2014); Baker, Bradley &amp; Wurgler (2011).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Combining the four into one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Equal weight, with safeguards that keep the comparison fair and honest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Equal weight to start.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Each factor counts for one quarter of the score. With no strong reason to favour one, equal weighting is the most defensible starting point.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Extreme values are trimmed before scoring.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handful of outliers cannot distort the scale, so all four factors genuinely count equally.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Only public information is used.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company's financials enter the score only once they have actually been filed, so the historical test never sees the future.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670048"/>
            <a:ext cx="5029200" cy="13716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81635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THE COMBINED SCORE</a:t>
            </a:r>
          </a:p>
        </p:txBody>
      </p:sp>
      <p:pic>
        <p:nvPicPr>
          <p:cNvPr id="11" name="Picture 10" descr="f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59" y="3141002"/>
            <a:ext cx="4480560" cy="886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2702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Q, V, M, L are the four factor scores. The highest combined scores become the portfolio.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Building the 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Turning scores into holdings, inside strict risk limits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From scores to holdings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scores choose the names. Hard limits keep the portfolio diversified.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Rank by combined score.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The top-scoring names are the candidates to hold.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Maximise total score, subject to limits.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standard optimiser sets the weights to favour the best-scoring names while respecting every limit below.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The result is roughly equal-weight across about 20 stocks.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Equal-weight factor portfolios have travelled well in out-of-sample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624328"/>
            <a:ext cx="5029200" cy="12344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77063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WHAT THE OPTIMISER SOLVES</a:t>
            </a:r>
          </a:p>
        </p:txBody>
      </p:sp>
      <p:pic>
        <p:nvPicPr>
          <p:cNvPr id="11" name="Picture 10" descr="f_ob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094" y="3081528"/>
            <a:ext cx="2717489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08736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w is each stock's weight; score is its combined factor score. Read: choose weights that put the most money in the best-scoring names.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limits are the risk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Diversification is enforced by rule, not left to chance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21284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1284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3225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5% maximum per 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63347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single name can dominate. This is what sets the holding count near 20.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21284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221284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23225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30% maximum per sector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63347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single industry can take over the book.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3016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3016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3739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~20 holdings, near equal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05079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Broad enough to diversify, focused enough to matter.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363016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352" y="363016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3739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95% invested, 5% cash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405079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A stable allocation at all times, with a small cash buffer.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income overlay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Earning option premium on the stocks we already own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Selling covered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We sell call options on our holdings and keep the cash premium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4864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Call option: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 contract that lets its buyer purchase our stock at a fixed “strike” price before a set date. We sell that right.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Premium: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cash the buyer pays us up front. We keep it in every outcome.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If the stock stays below the strike,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option expires worthless and we simply keep the premium and the stock.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If it rises above the strike,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stock is sold at the strike. We keep the premium and the gain up to that point, but give up the gain beyond it.</a:t>
            </a:r>
          </a:p>
        </p:txBody>
      </p:sp>
      <p:pic>
        <p:nvPicPr>
          <p:cNvPr id="9" name="Picture 8" descr="pay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21408"/>
            <a:ext cx="5257800" cy="2594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Choosing which call to sell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rule is consistent across every stock, with no discretion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Delta, about 0.30.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Delta estimates the chance the option ends up being exercised. Targeting 0.30 means roughly a 30% chance the stock is sold at the strike. Low enough to keep most of the upside, high enough to collect meaningful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Strikes set by probability, not a fixed percentage.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Using delta adapts the strike to each stock automatically. A calm stock and a volatile one get the same ~30% odds.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Expiring in 30 to 45 days.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Long enough to collect a worthwhile premium, short enough to refresh monthly with the rest of the portfolio.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Sold at the quoted middle price.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We take a fair price from the live option market rather than chasing.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Managing the options through the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One simple monthly cycle, repeated against each new set of holdings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58568"/>
            <a:ext cx="10908792" cy="28377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458968"/>
            <a:ext cx="109087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Closed early before earnings, then rewritten afterward,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because an earnings announcement can cause a large, unpredictable jump.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Re-entered only if still wanted.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If a stock is sold through an option, it is bought back only when it still ranks well, never chased above the strike.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An honest limit on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overlay covers most, but not all, of the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Options trade in blocks of 100 shares.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stock position must be at least 100 shares before we can sell a call against it.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Some positions are too small to cover.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On higher-priced stocks, a normal position can fall short of 100 shares, so part of the book earns no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This is a known constraint, not a flaw in the idea.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Position sizing and the investable amount determine how much of the book the overlay can reach, and that is managed deliberately.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data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Where the numbers come from, and how they stay trustworthy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same sequence runs every trading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Fully automated, and checked against the broker before any order is placed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Gather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prices and
financials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31136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05456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05456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Score stocks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the four
factors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96511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0832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Build portfolio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weights and
limits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1888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Add overlay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covered
calls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27264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01583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1583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Risk checks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7304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pre-trade
review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692640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66959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59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Place orders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send to
broker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343400"/>
            <a:ext cx="1090879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A37"/>
                </a:solidFill>
                <a:latin typeface="Avenir Next"/>
              </a:rPr>
              <a:t>The portfolio is rebalanced once a month. The rest of the time the system monitors positions, manages the options, and keeps its records aligned with the broker.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Three data sources, each with a clear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small, low-cost, auditable set of inputs feeding the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ta_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805" y="2075688"/>
            <a:ext cx="9747341" cy="434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Keeping the data trustworthy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unglamorous half of the work, and where many strategies quietly fail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tegrity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21408"/>
            <a:ext cx="10908792" cy="4030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Execution, risk and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How orders are placed, how risk is controlled, and how it tested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orders reach the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Order type is chosen to balance certainty of filling against control of price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75688"/>
          <a:ext cx="10908792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2286000"/>
                <a:gridCol w="569671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Situation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Order type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Why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Large, highly liquid stock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 order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Fills immediately, with negligible price impact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Less liquid stock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Marketable limit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Fills the same session while bounding the price paid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Selling a covered call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Limit at mid-price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Takes a fair premium without chasing the market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Closing a call near expiry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 order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Prioritises certainty of closing the position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818888"/>
            <a:ext cx="109087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Timing.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The monthly rebalance runs mid-session, leaving a liquid window before the close for orders to fill.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Unfilled orders.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Cancelled after a short window and completed at the next run. Nothing is left resting overnight.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Controlling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For a capital-preservation mandate, this is the most important part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sk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21408"/>
            <a:ext cx="10908792" cy="4030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the strategy was 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walk-forward simulation over 2021 to 2026, designed to resist over-fitting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50008"/>
            <a:ext cx="10908792" cy="26597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458968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1F2A37"/>
                </a:solidFill>
                <a:latin typeface="Avenir Next"/>
              </a:rPr>
              <a:t>Each month, the strategy runs on only the information available at the time, exactly as it would run live. The results, and their limitations, follow.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the strategy performed in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most dependable result is lower risk: smaller swings and shallower losses than the 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sk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5688"/>
            <a:ext cx="6675120" cy="387427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52360" y="21214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360" y="21214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08392" y="21214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8C7E"/>
                </a:solidFill>
                <a:latin typeface="Avenir Next"/>
              </a:rPr>
              <a:t>−16.7%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1214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Worst loss (drawdown) in the test,
vs. −24% for the S&amp;P 500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4930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34930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08392" y="34930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1B2A"/>
                </a:solidFill>
                <a:latin typeface="Avenir Next"/>
              </a:rPr>
              <a:t>15.5%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34930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Volatility, the size of the swings,
vs. 16% for the S&amp;P 500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48646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48646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08392" y="48646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1B2A"/>
                </a:solidFill>
                <a:latin typeface="Avenir Next"/>
              </a:rPr>
              <a:t>1.24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48646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Risk-adjusted return in the test,
vs. 0.87 for the S&amp;P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1F2A37"/>
                </a:solidFill>
                <a:latin typeface="Avenir Next"/>
              </a:rPr>
              <a:t>Sharpe ratio</a:t>
            </a:r>
            <a:r>
              <a:rPr sz="1050" b="0">
                <a:solidFill>
                  <a:srgbClr val="6B7787"/>
                </a:solidFill>
                <a:latin typeface="Avenir Next"/>
              </a:rPr>
              <a:t> is return per unit of risk; </a:t>
            </a:r>
            <a:r>
              <a:rPr sz="1050" b="1">
                <a:solidFill>
                  <a:srgbClr val="1F2A37"/>
                </a:solidFill>
                <a:latin typeface="Avenir Next"/>
              </a:rPr>
              <a:t>drawdown</a:t>
            </a:r>
            <a:r>
              <a:rPr sz="1050" b="0">
                <a:solidFill>
                  <a:srgbClr val="6B7787"/>
                </a:solidFill>
                <a:latin typeface="Avenir Next"/>
              </a:rPr>
              <a:t> is the largest peak-to-trough loss. Benchmarks are from index history; strategy figures from the simulation. Simulated and paper-traded, not live capital. Limitations on the next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to read these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results are encouraging, but they carry real limitations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12848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Simulated, not live.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 historical simulation and paper trading, not a track record, and not a prediction of future returns.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One favourable period.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2021 to 2026 window had specific conditions. A sustained bull market would likely show lower relative returns.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Premium is partly modeled.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Where real option prices are unavailable, the premium is estimated, so the overlay's contribution is uncertain.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04" y="2121408"/>
            <a:ext cx="15240" cy="3931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212848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Costs are estimates.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Real trading costs, taxes, and slippage may run higher than modeled.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Mild hindsight in the data.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Some company financials are restated over time, making the factor results modestly optimistic.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Figures are unlevered.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Leverage would scale both returns and losses: larger gains, but larger drawdowns.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The real verdict comes from live paper trading on real prices, not from more simulation.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A live, monitored system, running on its own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8 ·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Monitoring: a live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One page, four tabs, updating itself from the live account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651" y="2121408"/>
            <a:ext cx="9969649" cy="4023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190488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2A37"/>
                </a:solidFill>
                <a:latin typeface="Avenir Next"/>
              </a:rPr>
              <a:t>Overview · Portfolio · Performance · Backtest</a:t>
            </a:r>
            <a:r>
              <a:rPr sz="1200" b="0">
                <a:solidFill>
                  <a:srgbClr val="6B7787"/>
                </a:solidFill>
                <a:latin typeface="Avenir Next"/>
              </a:rPr>
              <a:t>    account value, holdings vs. target, factor tilt, growth vs. benchmarks, risk, and execution costs. Served read-only behind a password.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8 ·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Infrastructure and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Reliable, low-maintenance plumbing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Runs unattended in the cloud.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Hosted on a dedicated server that runs the daily process and the dashboard on a fixed schedule.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Restart-safe.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Every component restarts automatically, with a watchdog that checks the system is alive.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Backed up nightly.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operational database is copied to cloud storage each night, with a retention policy.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Alerts by email.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system emails on the events that matter, such as a failed run or a risk check that blocks a trade.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Shared securely.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dashboard is viewable read-only behind a password.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Status and outlook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Where the build stands, and what remains before live capital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9 · STATUS AND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Where the build stands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Built, tested, and paper-trading, with one verification step ahead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The full strategy is built and tested.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Data, factor scoring, portfolio construction, the options overlay, execution, and risk controls are all in place.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It is running on a paper account.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system trades a simulated account with live market data, monitored by the dashboard.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0E8C7E"/>
                </a:solidFill>
                <a:latin typeface="Avenir Next"/>
              </a:rPr>
              <a:t>The remaining step is live-paper verification. </a:t>
            </a:r>
            <a:r>
              <a:rPr sz="1600" b="0">
                <a:solidFill>
                  <a:srgbClr val="0E1B2A"/>
                </a:solidFill>
                <a:latin typeface="Avenir Next"/>
              </a:rPr>
              <a:t>Confirm the full strategy fills, prices, and behaves correctly on the real account before any discussion of live capital.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9 · STATUS AND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Risks and what comes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Risks we 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Crowding in factors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tracked by per-factor performance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Capped upside in strong rallies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the deliberate cost of the overlay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Data-source reliability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clean universe, reconciled each run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The gap from test to live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what paper trading is there to close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04" y="1737360"/>
            <a:ext cx="15240" cy="4206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What comes 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Live-paper verification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the immediate milestone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Refine factor weights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after more live evidence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Broaden the income overlay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more coverage, additional option strategies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Define the go-live criteria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before any real capital is committed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0" y="777240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10544" y="777240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48288" y="777240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0" y="1014983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210544" y="1014983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48288" y="1014983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0" y="12527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210544" y="12527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48288" y="12527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B8A6"/>
                </a:solidFill>
                <a:latin typeface="Avenir Next"/>
              </a:rPr>
              <a:t>IN SUMMARY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463040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141732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A disciplined factor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1801368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Four proven traits, computed transparently and weighted equally.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395728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235000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An income overlay that lowers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734056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Covered calls harvest a persistent premium and smooth the ride.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28415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Built for capital preservation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66744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Firm diversification limits, a pre-trade risk check, and an emergency stop.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61104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21538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Tested, and honest about its limits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599432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Strong risk-adjusted returns in a rigorous simulation, with the assumptions stated.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193792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148072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Live and monitored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532120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Running on a paper account, one verification step from the go-live discussion.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Formulas, sources, detailed results, and a glossary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Factor formulas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93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VALUE</a:t>
            </a:r>
          </a:p>
        </p:txBody>
      </p:sp>
      <p:pic>
        <p:nvPicPr>
          <p:cNvPr id="9" name="Picture 8" descr="f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93152"/>
            <a:ext cx="4663440" cy="59153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45352" y="178308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93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MOMENTUM</a:t>
            </a:r>
          </a:p>
        </p:txBody>
      </p:sp>
      <p:pic>
        <p:nvPicPr>
          <p:cNvPr id="12" name="Picture 11" descr="f_m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2338142"/>
            <a:ext cx="4663440" cy="90155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0080" y="356616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12463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QUALITY</a:t>
            </a:r>
          </a:p>
        </p:txBody>
      </p:sp>
      <p:pic>
        <p:nvPicPr>
          <p:cNvPr id="15" name="Picture 14" descr="f_q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319748"/>
            <a:ext cx="4663440" cy="50450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245352" y="356616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3712463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LOW VOLATILITY</a:t>
            </a:r>
          </a:p>
        </p:txBody>
      </p:sp>
      <p:pic>
        <p:nvPicPr>
          <p:cNvPr id="18" name="Picture 17" descr="f_low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4183615"/>
            <a:ext cx="4663440" cy="77676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" y="5394959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1B2A"/>
                </a:solidFill>
                <a:latin typeface="Avenir Next"/>
              </a:rPr>
              <a:t>z(·)</a:t>
            </a:r>
            <a:r>
              <a:rPr sz="1200" b="0">
                <a:solidFill>
                  <a:srgbClr val="6B7787"/>
                </a:solidFill>
                <a:latin typeface="Avenir Next"/>
              </a:rPr>
              <a:t> is the standardising score from slide 8; each factor is combined equally into the final score.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Selected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69164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Fama &amp; French (1992), The Cross-Section of Expected Stock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96596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Fama &amp; French (1993), Common Risk Factors in Stocks and Bonds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24028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Basu (1977), Investment Performance in Relation to P/E Ratios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4261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Momentum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64261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Jegadeesh &amp; Titman (1993), Returns to Buying Winners and Selling Losers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91693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Carhart (1997), On Persistence in Mutual Fund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19125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Asness, Moskowitz &amp; Pedersen (2013), Value and Momentum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9359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9359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Novy-Marx (2013), The Gross Profitability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6791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Asness, Frazzini &amp; Pedersen (2019), Quality Minus Junk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14223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Piotroski (2000), Value Investing and the F-Score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445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Low volatility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54456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Ang, Hodrick, Xing &amp; Zhang (2006), The Cross-Section of Volatility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81888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Frazzini &amp; Pedersen (2014), Betting Against Beta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509320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Baker, Bradley &amp; Wurgler (2011), Benchmarks as Limits to Arbitrage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49554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Options 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5495544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Whaley (2002), Return and Risk of the CBOE BuyWrite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769864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Carr &amp; Wu (2009), Variance Risk Premiums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6044183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Bakshi &amp; Kapadia (2003), Delta-Hedged Gains and the Volatility Premium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Detailed results, 2021 to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Strategy figures from the walk-forward simulation; benchmarks from index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67128"/>
          <a:ext cx="10908792" cy="25786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1463040"/>
                <a:gridCol w="1371600"/>
                <a:gridCol w="1051560"/>
                <a:gridCol w="1417320"/>
                <a:gridCol w="1399032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/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Annual return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Volatility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Sharpe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Max drawdown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Premium / yr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S&amp;P 500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+13.3%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16.0%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0.87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−23.9%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S&amp;P 500 BuyWrite (BXMD)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+10.2%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12.0%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0.87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−21.6%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Strategy, stocks only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+10.9%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~20%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0.62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−26%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 + covered calls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+19.6%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15.5%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1.24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−16.7%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~25%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 + put-wheel (optional)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+18.7%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12.9%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1.40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−12.8%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882896"/>
            <a:ext cx="10908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787"/>
                </a:solidFill>
                <a:latin typeface="Avenir Next"/>
              </a:rPr>
              <a:t>Benchmarks (S&amp;P 500 and BXMD) computed from total-return index history over Sep 2021 to Jun 2026, monthly. Strategy figures are from the walk-forward backtest on a 1x (unlevered) basis. All results are simulated or paper-traded, not live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volatility premium, measured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premium the overlay collects is real and persistent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+5.2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Implied volatility sold (38.4%)
over realized (33.2%)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5857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5857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5857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78%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017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of months with implied
above realized volatility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1636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1.16x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average implied-to-realized
volatility ratio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7413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7413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7413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4574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of holdings called away
(within the 30% target)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27448"/>
            <a:ext cx="109087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6B7787"/>
                </a:solidFill>
                <a:latin typeface="Avenir Next"/>
              </a:rPr>
              <a:t>Most of the premium compensates the risk of occasional large single-stock moves. The 30-delta strike is chosen to cap exactly that risk, which is why the overlay improves returns even after accounting for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Key 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Every setting lives in one configuration file, not scattered through the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67128"/>
          <a:ext cx="10908792" cy="3008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2743200"/>
                <a:gridCol w="2743200"/>
                <a:gridCol w="2587752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Setting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Value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Setting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Value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Universe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liquid US stocks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Max per stock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5%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Holdings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about 20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Max per sector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30%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Factor weights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25% each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Invested / cash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95% / 5%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Momentum window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12 months less 1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Volatility window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12 months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Call delta target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0.30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Call expiry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30 to 45 days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Rebalance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monthly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Benchmarks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S&amp;P 500, BXMD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Glossary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Factor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A company trait linked to higher long-run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0592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z-score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24912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How far a value sits from the average, in standard deviations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6382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P/E, P/B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38144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Price vs. earnings, and price vs. net asset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77056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ROE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51376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Profit as a percentage of shareholders' money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90288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Volatility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6460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How much a price moves around, a measure of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Call 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7784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right to buy a stock at a set price by a set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Premium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1168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cash received for selling an 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450592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Strike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24912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fixed price at which an option can be exercised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16382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Delta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438144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An option's rough chance of being exercised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877056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Implied volatility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151376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price movement the market expects, priced into options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590288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Assignment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86460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Being required to sell the stock when a call is exercised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30352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Sharpe ratio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57784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Return earned per unit of risk taken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