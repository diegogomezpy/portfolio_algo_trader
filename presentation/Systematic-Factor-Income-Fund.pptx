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PROPRIETARY 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venir Next"/>
              </a:rPr>
              <a:t>Systematic Factor
Income Fund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venir Next"/>
              </a:rPr>
              <a:t>A rules-based equity portfolio with an options income overlay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venir Next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venir Next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venir Next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venir Next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venir Next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venir Next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Why this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factor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venir Next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24528"/>
            <a:ext cx="54864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70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497" y="4681728"/>
            <a:ext cx="1629565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64184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E1B2A"/>
                </a:solidFill>
                <a:latin typeface="Avenir Next"/>
              </a:rPr>
              <a:t>x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company's value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μ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the average    </a:t>
            </a:r>
            <a:r>
              <a:rPr sz="12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250" b="0">
                <a:solidFill>
                  <a:srgbClr val="6B7787"/>
                </a:solidFill>
                <a:latin typeface="Avenir Next"/>
              </a:rPr>
              <a:t> standard deviation</a:t>
            </a:r>
          </a:p>
        </p:txBody>
      </p:sp>
      <p:pic>
        <p:nvPicPr>
          <p:cNvPr id="13" name="Picture 12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1830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81" y="5029200"/>
            <a:ext cx="3604390" cy="457199"/>
          </a:xfrm>
          <a:prstGeom prst="rect">
            <a:avLst/>
          </a:prstGeom>
        </p:spPr>
      </p:pic>
      <p:pic>
        <p:nvPicPr>
          <p:cNvPr id="12" name="Picture 11" descr="f_valu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312" y="5422392"/>
            <a:ext cx="2122327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Fama &amp; French (1992, 1993); Basu (1977).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6029" y="5166360"/>
            <a:ext cx="4256893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Jegadeesh &amp; Titman (1993); Asness, Moskowitz &amp; Pedersen (2013).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905" y="5166360"/>
            <a:ext cx="760714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Novy-Marx (2013); Asness, Frazzini &amp; Pedersen (2019); Piotroski (2000).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546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00" y="5166360"/>
            <a:ext cx="494075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3716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59" y="3141002"/>
            <a:ext cx="4480560" cy="886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2702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Q, V, M, L are the four factor scores. The highest combined scores become the portfolio.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2344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94" y="3081528"/>
            <a:ext cx="2717489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0873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w is each stock's weight; score is its combined factor score. Read: choose weights that put the most money in the best-scoring names.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4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simple monthly cycle, repeated against each new set of holdings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58568"/>
            <a:ext cx="10908792" cy="28377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Closed early before earnings, then rewritten afterward,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because an earnings announcement can cause a large, unpredictable jump.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Re-entered only if still wanted.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If a stock is sold through an option, it is bought back only when it still ranks well, never chased above the strike.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data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venir Next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small, low-cost, auditable set of inputs feeding the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805" y="2075688"/>
            <a:ext cx="9747341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tegrit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Timing.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For a capital-preservation mandate, this is the most important part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walk-forward simulation over 2021 to 2026, designed to resist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50008"/>
            <a:ext cx="10908792" cy="2659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F2A37"/>
                </a:solidFill>
                <a:latin typeface="Avenir Next"/>
              </a:rPr>
              <a:t>Each month, the strategy runs on only the information available at the time, exactly as it would run live. The results, and their limitations,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most dependable result is lower risk: smaller swings and shallower losses than the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5688"/>
            <a:ext cx="6675120" cy="38742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21214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21214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08392" y="21214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8C7E"/>
                </a:solidFill>
                <a:latin typeface="Avenir Next"/>
              </a:rPr>
              <a:t>−16.7%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1214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Worst loss (drawdown) in the test,
vs. −24%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4930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4930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34930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Volatility, the size of the swings,
vs. 16%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864608"/>
            <a:ext cx="4096512" cy="1207008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4864608"/>
            <a:ext cx="82296" cy="1207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4864608"/>
            <a:ext cx="178308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>
                <a:solidFill>
                  <a:srgbClr val="0E1B2A"/>
                </a:solidFill>
                <a:latin typeface="Avenir Next"/>
              </a:rPr>
              <a:t>1.24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64608"/>
            <a:ext cx="20574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Risk-adjusted return in the test,
vs. 0.87 for the 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F2A37"/>
                </a:solidFill>
                <a:latin typeface="Avenir Next"/>
              </a:rPr>
              <a:t>Sharpe ratio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return per unit of risk; </a:t>
            </a:r>
            <a:r>
              <a:rPr sz="1050" b="1">
                <a:solidFill>
                  <a:srgbClr val="1F2A37"/>
                </a:solidFill>
                <a:latin typeface="Avenir Next"/>
              </a:rPr>
              <a:t>drawdown</a:t>
            </a:r>
            <a:r>
              <a:rPr sz="1050" b="0">
                <a:solidFill>
                  <a:srgbClr val="6B7787"/>
                </a:solidFill>
                <a:latin typeface="Avenir Next"/>
              </a:rPr>
              <a:t> is the largest peak-to-trough loss. Benchmarks are from index history; strategy figures from the simulation. Simulated and paper-traded, not live capital. Limitations on the next slide.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to read these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results are encouraging, but they carry real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Simulated, not live.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historical simulation and paper trading, not a track record, and not a prediction of future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One favourable period.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2021 to 2026 window had specific conditions. A sustained bull market would likely show lower relative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 is partly modeled.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Where real option prices are unavailable, the premium is estimated, so the overlay's contribution is uncertain.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2121408"/>
            <a:ext cx="15240" cy="3931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Costs are estimates.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Real trading costs, taxes, and slippage may run higher than modeled.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Mild hindsight in the data.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Some company financials are restated over time, making the factor results modestly optimistic.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Figures are unlevered.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Leverage would scale both returns and losses: larger gains, but larger drawdowns.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The real verdict comes from live paper trading on real prices, not from more simulation.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single page gives the full picture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Overview.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Account value and cash to the cent, daily profit, and a single health bar covering the engine, the market clock, the next rebalance, and any alerts.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Portfolio.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Holdings against target, sector and concentration breakdowns, the portfolio's factor tilt, the covered calls, and recent activity.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Performance.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Growth against the S&amp;P 500 and the BuyWrite index, risk measures, and a breakdown of trading costs and option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Always current.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updates itself from the live account, so it reflects the real state rather than a stale snapshot.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Status and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0E8C7E"/>
                </a:solidFill>
                <a:latin typeface="Avenir Next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venir Next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IN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 disciplined factor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Four proven traits, computed transparently and weighted equally.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An income overlay that lowers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Covered calls harvest a persistent premium and smooth the ride.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Built for capital preservation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Firm diversification limits, a pre-trade risk check, and an emergency stop.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Tested, and honest about its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Strong risk-adjusted returns in a rigorous simulation, with the assumptions stated.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Live and monitored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Running on a paper account, one verification step from the go-live discussion.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93152"/>
            <a:ext cx="4663440" cy="5915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338142"/>
            <a:ext cx="4663440" cy="90155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19748"/>
            <a:ext cx="4663440" cy="5045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4183615"/>
            <a:ext cx="4663440" cy="7767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94959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1B2A"/>
                </a:solidFill>
                <a:latin typeface="Avenir Next"/>
              </a:rPr>
              <a:t>z(·)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is the standardising score from slide 8; each factor is combined equally into the final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venir Next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