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4B8A6"/>
                </a:solidFill>
                <a:latin typeface="Arial"/>
              </a:rPr>
              <a:t>PROPRIETARY SYSTEMATIC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>
                <a:solidFill>
                  <a:srgbClr val="FFFFFF"/>
                </a:solidFill>
                <a:latin typeface="Arial"/>
              </a:rPr>
              <a:t>sharpe-engine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>
                <a:solidFill>
                  <a:srgbClr val="C7D2DD"/>
                </a:solidFill>
                <a:latin typeface="Arial"/>
              </a:rPr>
              <a:t>A factor-equity portfolio with a covered-call income overlay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77639"/>
            <a:ext cx="2743200" cy="254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2519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9FADBC"/>
                </a:solidFill>
                <a:latin typeface="Arial"/>
              </a:rPr>
              <a:t>Uncorrelated, risk-adjusted USD returns · capital preservation first · paper-traded on Alpaca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Strategy &amp; pipeline walkthrough</a:t>
            </a:r>
            <a:r>
              <a:rPr sz="1200" b="0">
                <a:solidFill>
                  <a:srgbClr val="8B99A8"/>
                </a:solidFill>
                <a:latin typeface="Arial"/>
              </a:rPr>
              <a:t>      ·      Confidential · prepared for firm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What this walkthrough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8C7E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288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1B2A"/>
                </a:solidFill>
                <a:latin typeface="Arial"/>
              </a:rPr>
              <a:t>The mandate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828800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6B7787"/>
                </a:solidFill>
                <a:latin typeface="Arial"/>
              </a:rPr>
              <a:t>What the book is for, and what it deliberately is 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76856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8C7E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7685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1B2A"/>
                </a:solidFill>
                <a:latin typeface="Arial"/>
              </a:rPr>
              <a:t>Why this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76856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6B7787"/>
                </a:solidFill>
                <a:latin typeface="Arial"/>
              </a:rPr>
              <a:t>Factor premia over ML; the volatility-risk-premium overlay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249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8C7E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249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1B2A"/>
                </a:solidFill>
                <a:latin typeface="Arial"/>
              </a:rPr>
              <a:t>The factor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24912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6B7787"/>
                </a:solidFill>
                <a:latin typeface="Arial"/>
              </a:rPr>
              <a:t>Quality, Value, Momentum, Low-vol — formulas + the literature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7296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8C7E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17296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1B2A"/>
                </a:solidFill>
                <a:latin typeface="Arial"/>
              </a:rPr>
              <a:t>Portfolio construction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172968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6B7787"/>
                </a:solidFill>
                <a:latin typeface="Arial"/>
              </a:rPr>
              <a:t>Scores → weights; the alpha-model / risk-model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2102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8C7E"/>
                </a:solidFill>
                <a:latin typeface="Arial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62102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1B2A"/>
                </a:solidFill>
                <a:latin typeface="Arial"/>
              </a:rPr>
              <a:t>The income overlay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621024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6B7787"/>
                </a:solidFill>
                <a:latin typeface="Arial"/>
              </a:rPr>
              <a:t>How covered calls are selected, written, and managed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0690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8C7E"/>
                </a:solidFill>
                <a:latin typeface="Arial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0690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1B2A"/>
                </a:solidFill>
                <a:latin typeface="Arial"/>
              </a:rPr>
              <a:t>The data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069080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6B7787"/>
                </a:solidFill>
                <a:latin typeface="Arial"/>
              </a:rPr>
              <a:t>Sources, stores, and point-in-time integrity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17136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8C7E"/>
                </a:solidFill>
                <a:latin typeface="Arial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51713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1B2A"/>
                </a:solidFill>
                <a:latin typeface="Arial"/>
              </a:rPr>
              <a:t>Execution, risk &amp; proof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517136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6B7787"/>
                </a:solidFill>
                <a:latin typeface="Arial"/>
              </a:rPr>
              <a:t>Order routing, the risk gate, and the backtest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96519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8C7E"/>
                </a:solidFill>
                <a:latin typeface="Arial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9651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1B2A"/>
                </a:solidFill>
                <a:latin typeface="Arial"/>
              </a:rPr>
              <a:t>Operations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965192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6B7787"/>
                </a:solidFill>
                <a:latin typeface="Arial"/>
              </a:rPr>
              <a:t>The live dashboard and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4132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8C7E"/>
                </a:solidFill>
                <a:latin typeface="Arial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41324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1B2A"/>
                </a:solidFill>
                <a:latin typeface="Arial"/>
              </a:rPr>
              <a:t>Roadmap &amp; 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413248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6B7787"/>
                </a:solidFill>
                <a:latin typeface="Arial"/>
              </a:rPr>
              <a:t>Where we are, the go-live gate, and what's next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86130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8C7E"/>
                </a:solidFill>
                <a:latin typeface="Arial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86130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1B2A"/>
                </a:solidFill>
                <a:latin typeface="Arial"/>
              </a:rPr>
              <a:t>Appendix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861304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6B7787"/>
                </a:solidFill>
                <a:latin typeface="Arial"/>
              </a:rPr>
              <a:t>Formulas, citations, methodology tables, glossary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0" b="1">
                <a:solidFill>
                  <a:srgbClr val="2A4760"/>
                </a:solidFill>
                <a:latin typeface="Arial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21945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The mandate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9FADBC"/>
                </a:solidFill>
                <a:latin typeface="Arial"/>
              </a:rPr>
              <a:t>A proprietary book built to diversify the firm — not to chase alpha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01 · THE MANDATE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Three objectives, in priority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The book exists to diversify firm revenue with disciplined, risk-adjusted USD returns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Preserve capital first. </a:t>
            </a:r>
            <a:r>
              <a:rPr sz="1500" b="0">
                <a:solidFill>
                  <a:srgbClr val="1F2A37"/>
                </a:solidFill>
                <a:latin typeface="Arial"/>
              </a:rPr>
              <a:t>The primary mandate. Every design choice — diversification caps, the income overlay, the risk gate — serves drawdown control before it serves return.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Generate uncorrelated returns. </a:t>
            </a:r>
            <a:r>
              <a:rPr sz="1500" b="0">
                <a:solidFill>
                  <a:srgbClr val="1F2A37"/>
                </a:solidFill>
                <a:latin typeface="Arial"/>
              </a:rPr>
              <a:t>A systematic equity book whose return stream diversifies the firm's core brokerage business, rather than amplifying it.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Be honest and defensible. </a:t>
            </a:r>
            <a:r>
              <a:rPr sz="1500" b="0">
                <a:solidFill>
                  <a:srgbClr val="1F2A37"/>
                </a:solidFill>
                <a:latin typeface="Arial"/>
              </a:rPr>
              <a:t>A clean, explainable strategy with a credible academic track record — something an investment committee can understand, audit, and trust through a bad stretch.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Risk-adjusted, not headline. </a:t>
            </a:r>
            <a:r>
              <a:rPr sz="1500" b="0">
                <a:solidFill>
                  <a:srgbClr val="1F2A37"/>
                </a:solidFill>
                <a:latin typeface="Arial"/>
              </a:rPr>
              <a:t>The goal is a high Sharpe with shallow drawdowns — consistent income, not 50% years. Capped upside is an acceptable price.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01 · THE MANDATE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What this is — and what it deliberately is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Setting expectations up front is what makes the strategy defensible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0E8C7E"/>
                </a:solidFill>
                <a:latin typeface="Arial"/>
              </a:rPr>
              <a:t>IT IS a systematic factor portfolio.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300" b="0">
                <a:solidFill>
                  <a:srgbClr val="6B7787"/>
                </a:solidFill>
                <a:latin typeface="Arial"/>
              </a:rPr>
              <a:t>Rules-based exposure to well-documented risk premia, rebalanced monthly.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0E8C7E"/>
                </a:solidFill>
                <a:latin typeface="Arial"/>
              </a:rPr>
              <a:t>IT IS a volatility-risk-premium harvest.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300" b="0">
                <a:solidFill>
                  <a:srgbClr val="6B7787"/>
                </a:solidFill>
                <a:latin typeface="Arial"/>
              </a:rPr>
              <a:t>Covered calls turn held stock into a recurring income stream.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C68A2E"/>
                </a:solidFill>
                <a:latin typeface="Arial"/>
              </a:rPr>
              <a:t>▪  </a:t>
            </a:r>
            <a:r>
              <a:rPr sz="1500" b="1">
                <a:solidFill>
                  <a:srgbClr val="C68A2E"/>
                </a:solidFill>
                <a:latin typeface="Arial"/>
              </a:rPr>
              <a:t>IT IS NOT a machine-learning return predictor.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300" b="0">
                <a:solidFill>
                  <a:srgbClr val="6B7787"/>
                </a:solidFill>
                <a:latin typeface="Arial"/>
              </a:rPr>
              <a:t>No black-box forecasting of next-month returns — the most crowded game in quant.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C68A2E"/>
                </a:solidFill>
                <a:latin typeface="Arial"/>
              </a:rPr>
              <a:t>▪  </a:t>
            </a:r>
            <a:r>
              <a:rPr sz="1500" b="1">
                <a:solidFill>
                  <a:srgbClr val="C68A2E"/>
                </a:solidFill>
                <a:latin typeface="Arial"/>
              </a:rPr>
              <a:t>IT IS NOT market timing.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300" b="0">
                <a:solidFill>
                  <a:srgbClr val="6B7787"/>
                </a:solidFill>
                <a:latin typeface="Arial"/>
              </a:rPr>
              <a:t>No regime filter, no macro calls — the factors themselves carry the defense.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C68A2E"/>
                </a:solidFill>
                <a:latin typeface="Arial"/>
              </a:rPr>
              <a:t>▪  </a:t>
            </a:r>
            <a:r>
              <a:rPr sz="1500" b="1">
                <a:solidFill>
                  <a:srgbClr val="C68A2E"/>
                </a:solidFill>
                <a:latin typeface="Arial"/>
              </a:rPr>
              <a:t>IT IS NOT concentrated stock-picking.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300" b="0">
                <a:solidFill>
                  <a:srgbClr val="6B7787"/>
                </a:solidFill>
                <a:latin typeface="Arial"/>
              </a:rPr>
              <a:t>~20 names, near-equal-weight, hard single-name and sector caps.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01 · THE MANDATE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Two engines, one 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A factor portfolio decides what to hold; the overlay earns income on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4206240" cy="1737360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79191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FACTOR EQUITY 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081527"/>
            <a:ext cx="40965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EBCC9"/>
                </a:solidFill>
                <a:latin typeface="Arial"/>
              </a:rPr>
              <a:t>Quality · Value · Momentum · Low-vol
~20 names, monthly rebalance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2194560"/>
            <a:ext cx="4206240" cy="1737360"/>
          </a:xfrm>
          <a:prstGeom prst="roundRect">
            <a:avLst>
              <a:gd name="adj" fmla="val 12000"/>
            </a:avLst>
          </a:prstGeom>
          <a:solidFill>
            <a:srgbClr val="0E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2679191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COVERED-CALL OVERLAY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3" y="3081527"/>
            <a:ext cx="40965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EBCC9"/>
                </a:solidFill>
                <a:latin typeface="Arial"/>
              </a:rPr>
              <a:t>Sell 0.30-delta calls, 30–45 DTE
Harvest the volatility risk premium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9748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787"/>
                </a:solidFill>
                <a:latin typeface="Arial"/>
              </a:rPr>
              <a:t>writes calls
against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288036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B8A6"/>
                </a:solidFill>
                <a:latin typeface="Arial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88036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B8A6"/>
                </a:solidFill>
                <a:latin typeface="Arial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2A37"/>
                </a:solidFill>
                <a:latin typeface="Arial"/>
              </a:rPr>
              <a:t>Return = </a:t>
            </a:r>
            <a:r>
              <a:rPr sz="1500" b="0">
                <a:solidFill>
                  <a:srgbClr val="1F2A37"/>
                </a:solidFill>
                <a:latin typeface="Arial"/>
              </a:rPr>
              <a:t>factor selection (the holdings) </a:t>
            </a:r>
            <a:r>
              <a:rPr sz="1500" b="1">
                <a:solidFill>
                  <a:srgbClr val="1F2A37"/>
                </a:solidFill>
                <a:latin typeface="Arial"/>
              </a:rPr>
              <a:t>+ </a:t>
            </a:r>
            <a:r>
              <a:rPr sz="1500" b="0">
                <a:solidFill>
                  <a:srgbClr val="1F2A37"/>
                </a:solidFill>
                <a:latin typeface="Arial"/>
              </a:rPr>
              <a:t>premium income (the overlay) </a:t>
            </a:r>
            <a:r>
              <a:rPr sz="1500" b="1">
                <a:solidFill>
                  <a:srgbClr val="1F2A37"/>
                </a:solidFill>
                <a:latin typeface="Arial"/>
              </a:rPr>
              <a:t>− </a:t>
            </a:r>
            <a:r>
              <a:rPr sz="1500" b="0">
                <a:solidFill>
                  <a:srgbClr val="1F2A37"/>
                </a:solidFill>
                <a:latin typeface="Arial"/>
              </a:rPr>
              <a:t>capped upside on assigned names. </a:t>
            </a:r>
            <a:r>
              <a:rPr sz="1500" b="0">
                <a:solidFill>
                  <a:srgbClr val="6B7787"/>
                </a:solidFill>
                <a:latin typeface="Arial"/>
              </a:rPr>
              <a:t>The equity sleeve sets direction and diversification; the option sleeve trades a little upside for a steady, uncorrelated income stream and a lower-volatility path.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0" b="1">
                <a:solidFill>
                  <a:srgbClr val="2A4760"/>
                </a:solidFill>
                <a:latin typeface="Arial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21945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Why this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9FADBC"/>
                </a:solidFill>
                <a:latin typeface="Arial"/>
              </a:rPr>
              <a:t>The intellectual case for factors and for selling volatility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02 · WHY THIS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Why factor premia, not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Decision D1 — explicit, formula-based factor scores over a return-forecasting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ML price prediction is the most arbitraged space in finance. </a:t>
            </a:r>
            <a:r>
              <a:rPr sz="1500" b="0">
                <a:solidFill>
                  <a:srgbClr val="1F2A37"/>
                </a:solidFill>
                <a:latin typeface="Arial"/>
              </a:rPr>
              <a:t>A model trained on standard momentum/vol features competes with Renaissance, Two Sigma, and thousands of funds. The half-life of ML price signals keeps compressing as capital crowds in.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Factor premia are persistent risk premia, not fleeting mispricings. </a:t>
            </a:r>
            <a:r>
              <a:rPr sz="1500" b="0">
                <a:solidFill>
                  <a:srgbClr val="1F2A37"/>
                </a:solidFill>
                <a:latin typeface="Arial"/>
              </a:rPr>
              <a:t>Fifty years of academic evidence across dozens of markets and decades. They pay because they compensate systematic risk — which makes them durable, not arbitraged away.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Defensible to an investment committee. </a:t>
            </a:r>
            <a:r>
              <a:rPr sz="1500" b="0">
                <a:solidFill>
                  <a:srgbClr val="1F2A37"/>
                </a:solidFill>
                <a:latin typeface="Arial"/>
              </a:rPr>
              <a:t>A clean factor book is honest about what it is and has a credible track record. A black box is far harder to defend when it goes through an inevitable bad stretch.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Fits the mandate. </a:t>
            </a:r>
            <a:r>
              <a:rPr sz="1500" b="0">
                <a:solidFill>
                  <a:srgbClr val="1F2A37"/>
                </a:solidFill>
                <a:latin typeface="Arial"/>
              </a:rPr>
              <a:t>The goal is capital preservation and uncorrelated returns — not alpha generation. Factor premia + an income overlay is exactly that shape of return.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02 · WHY THIS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Why a covered-call income overlay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Decision D3 — harvest the volatility risk premium, the strategy's primary income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The volatility risk premium is real and persistent. </a:t>
            </a:r>
            <a:r>
              <a:rPr sz="1500" b="0">
                <a:solidFill>
                  <a:srgbClr val="1F2A37"/>
                </a:solidFill>
                <a:latin typeface="Arial"/>
              </a:rPr>
              <a:t>Option-implied volatility systematically exceeds subsequently-realized volatility. Selling options harvests that gap — one of the most robust anomalies in options markets.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Income on capital already deployed. </a:t>
            </a:r>
            <a:r>
              <a:rPr sz="1500" b="0">
                <a:solidFill>
                  <a:srgbClr val="1F2A37"/>
                </a:solidFill>
                <a:latin typeface="Arial"/>
              </a:rPr>
              <a:t>Covered calls earn premium on stock the factor book already holds. No separate capital, no cash drag — unlike cash-secured puts, which tie up collateral.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Lower-volatility path. </a:t>
            </a:r>
            <a:r>
              <a:rPr sz="1500" b="0">
                <a:solidFill>
                  <a:srgbClr val="1F2A37"/>
                </a:solidFill>
                <a:latin typeface="Arial"/>
              </a:rPr>
              <a:t>The CBOE BuyWrite (BXM) has historically matched the S&amp;P 500 with roughly 30% lower volatility — precisely the trade a preservation mandate wants.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Capped upside is an acceptable cost. </a:t>
            </a:r>
            <a:r>
              <a:rPr sz="1500" b="0">
                <a:solidFill>
                  <a:srgbClr val="1F2A37"/>
                </a:solidFill>
                <a:latin typeface="Arial"/>
              </a:rPr>
              <a:t>The firm does not need 50% years; it needs consistent, uncorrelated income. Giving up the right tail to buy a smoother ride is the deliberate trade.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02 · WHY THIS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Covered calls over the alternatives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Decisions D3 / D4 — the simplest controllable design that fits the mandate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3055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1B2A"/>
                </a:solidFill>
                <a:latin typeface="Arial"/>
              </a:rPr>
              <a:t>Why not cash-secured puts / the wheel?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3472"/>
            <a:ext cx="5257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0">
                <a:solidFill>
                  <a:srgbClr val="1F2A37"/>
                </a:solidFill>
                <a:latin typeface="Arial"/>
              </a:rPr>
              <a:t>Puts require large cash collateral — dead weight in a prop book.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0">
                <a:solidFill>
                  <a:srgbClr val="1F2A37"/>
                </a:solidFill>
                <a:latin typeface="Arial"/>
              </a:rPr>
              <a:t>Calls earn income on stock already deployed in the factor portfolio.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0">
                <a:solidFill>
                  <a:srgbClr val="1F2A37"/>
                </a:solidFill>
                <a:latin typeface="Arial"/>
              </a:rPr>
              <a:t>The put leg adds cash drag and operational complexity.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0">
                <a:solidFill>
                  <a:srgbClr val="1F2A37"/>
                </a:solidFill>
                <a:latin typeface="Arial"/>
              </a:rPr>
              <a:t>Cleaner and more controllable for a first version; puts can be layered later.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9904" y="2084832"/>
            <a:ext cx="15240" cy="429768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13055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1B2A"/>
                </a:solidFill>
                <a:latin typeface="Arial"/>
              </a:rPr>
              <a:t>Why delta-targeted strikes, not fixed % OTM?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33472"/>
            <a:ext cx="5257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0">
                <a:solidFill>
                  <a:srgbClr val="1F2A37"/>
                </a:solidFill>
                <a:latin typeface="Arial"/>
              </a:rPr>
              <a:t>A fixed 7%-OTM strike means wildly different odds on a 15%-vol vs a 40%-vol stock.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0">
                <a:solidFill>
                  <a:srgbClr val="1F2A37"/>
                </a:solidFill>
                <a:latin typeface="Arial"/>
              </a:rPr>
              <a:t>Targeting a 0.30 delta gives a consistent ~30% assignment probability everywhere.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0">
                <a:solidFill>
                  <a:srgbClr val="1F2A37"/>
                </a:solidFill>
                <a:latin typeface="Arial"/>
              </a:rPr>
              <a:t>In high-IV names the call sits further OTM in dollars; in low-IV, closer — it adapts.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0">
                <a:solidFill>
                  <a:srgbClr val="1F2A37"/>
                </a:solidFill>
                <a:latin typeface="Arial"/>
              </a:rPr>
              <a:t>Industry standard for systematic covered-call programs (D4).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0" b="1">
                <a:solidFill>
                  <a:srgbClr val="2A4760"/>
                </a:solidFill>
                <a:latin typeface="Arial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21945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The factor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9FADBC"/>
                </a:solidFill>
                <a:latin typeface="Arial"/>
              </a:rPr>
              <a:t>Four risk premia, computed transparently, weighted equally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03 · FACTOR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Four factors, one composite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Composite = 0.25·Quality + 0.25·Value + 0.25·Momentum + 0.25·Low-vol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Every liquid stock gets a composite factor score on each date. </a:t>
            </a:r>
            <a:r>
              <a:rPr sz="1500" b="0">
                <a:solidFill>
                  <a:srgbClr val="1F2A37"/>
                </a:solidFill>
                <a:latin typeface="Arial"/>
              </a:rPr>
              <a:t>The composite is the equal-weighted average of four cross-sectionally standardized sub-scores: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300" b="1">
                <a:solidFill>
                  <a:srgbClr val="6B7787"/>
                </a:solidFill>
                <a:latin typeface="Arial"/>
              </a:rPr>
              <a:t>Quality</a:t>
            </a:r>
            <a:r>
              <a:rPr sz="1300" b="0">
                <a:solidFill>
                  <a:srgbClr val="6B7787"/>
                </a:solidFill>
                <a:latin typeface="Arial"/>
              </a:rPr>
              <a:t>  —  profitability: ROE and gross margin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300" b="1">
                <a:solidFill>
                  <a:srgbClr val="6B7787"/>
                </a:solidFill>
                <a:latin typeface="Arial"/>
              </a:rPr>
              <a:t>Value</a:t>
            </a:r>
            <a:r>
              <a:rPr sz="1300" b="0">
                <a:solidFill>
                  <a:srgbClr val="6B7787"/>
                </a:solidFill>
                <a:latin typeface="Arial"/>
              </a:rPr>
              <a:t>  —  cheapness: earnings yield (E/P) and book yield (B/P)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300" b="1">
                <a:solidFill>
                  <a:srgbClr val="6B7787"/>
                </a:solidFill>
                <a:latin typeface="Arial"/>
              </a:rPr>
              <a:t>Momentum</a:t>
            </a:r>
            <a:r>
              <a:rPr sz="1300" b="0">
                <a:solidFill>
                  <a:srgbClr val="6B7787"/>
                </a:solidFill>
                <a:latin typeface="Arial"/>
              </a:rPr>
              <a:t>  —  12-1 trailing price trend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300" b="1">
                <a:solidFill>
                  <a:srgbClr val="6B7787"/>
                </a:solidFill>
                <a:latin typeface="Arial"/>
              </a:rPr>
              <a:t>Low-volatility</a:t>
            </a:r>
            <a:r>
              <a:rPr sz="1300" b="0">
                <a:solidFill>
                  <a:srgbClr val="6B7787"/>
                </a:solidFill>
                <a:latin typeface="Arial"/>
              </a:rPr>
              <a:t>  —  the inverse of trailing realized volatility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Equal weight (25% each) to start. </a:t>
            </a:r>
            <a:r>
              <a:rPr sz="1500" b="0">
                <a:solidFill>
                  <a:srgbClr val="1F2A37"/>
                </a:solidFill>
                <a:latin typeface="Arial"/>
              </a:rPr>
              <a:t>The most defensible prior when you have no strong view on which factor will dominate the period — and it avoids overfitting the weights before the backtest (D2).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All four are paid for bearing systematic risk — </a:t>
            </a:r>
            <a:r>
              <a:rPr sz="1500" b="0">
                <a:solidFill>
                  <a:srgbClr val="1F2A37"/>
                </a:solidFill>
                <a:latin typeface="Arial"/>
              </a:rPr>
              <a:t>not for finding mispricings. That is what makes them durable.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03 · FACTOR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Value — buy cheap cash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F2A37"/>
                </a:solidFill>
                <a:latin typeface="Arial"/>
              </a:rPr>
              <a:t>Cheap stocks (high earnings/book yield) have historically out-earned expensive ones — compensation for distress risk and behavioral over-extrapolation.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08792" cy="86868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61488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4B8A6"/>
                </a:solidFill>
                <a:latin typeface="Arial"/>
              </a:rPr>
              <a:t>AS COMPUTED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651760"/>
            <a:ext cx="8778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onsolas"/>
              </a:rPr>
              <a:t>Value = z ( z(E/P) + z(B/P) ),  where  E/P = 1/PE,  B/P = 1/PB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090879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1">
                <a:solidFill>
                  <a:srgbClr val="1F2A37"/>
                </a:solidFill>
                <a:latin typeface="Arial"/>
              </a:rPr>
              <a:t>Yields, not ratio inversion. </a:t>
            </a:r>
            <a:r>
              <a:rPr sz="1400" b="0">
                <a:solidFill>
                  <a:srgbClr val="1F2A37"/>
                </a:solidFill>
                <a:latin typeface="Arial"/>
              </a:rPr>
              <a:t>~24% of the universe has negative P/E; inverting (−P/E) would score loss-makers as 'cheap'. E/P and B/P sort negatives to the bottom where they belong, and keep the name scored.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1">
                <a:solidFill>
                  <a:srgbClr val="1F2A37"/>
                </a:solidFill>
                <a:latin typeface="Arial"/>
              </a:rPr>
              <a:t>Double-z. </a:t>
            </a:r>
            <a:r>
              <a:rPr sz="1400" b="0">
                <a:solidFill>
                  <a:srgbClr val="1F2A37"/>
                </a:solidFill>
                <a:latin typeface="Arial"/>
              </a:rPr>
              <a:t>The two metric z-scores are summed then re-standardized, so Value lands at unit variance like the price factors — true equal weighting.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166359"/>
            <a:ext cx="91440" cy="8229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66359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E8C7E"/>
                </a:solidFill>
                <a:latin typeface="Arial"/>
              </a:rPr>
              <a:t>SEMINAL LITERATURE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458968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200" b="0">
                <a:solidFill>
                  <a:srgbClr val="6B7787"/>
                </a:solidFill>
                <a:latin typeface="Arial"/>
              </a:rPr>
              <a:t>Fama &amp; French (1992), “The Cross-Section of Expected Stock Returns,” Journal of Finance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200" b="0">
                <a:solidFill>
                  <a:srgbClr val="6B7787"/>
                </a:solidFill>
                <a:latin typeface="Arial"/>
              </a:rPr>
              <a:t>Fama &amp; French (1993), “Common Risk Factors in the Returns on Stocks and Bonds,” JFE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200" b="0">
                <a:solidFill>
                  <a:srgbClr val="6B7787"/>
                </a:solidFill>
                <a:latin typeface="Arial"/>
              </a:rPr>
              <a:t>Basu (1977), “Investment Performance of Common Stocks in Relation to P/E Ratios,” J. of Finance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03 · FACTOR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Momentum — ride the trend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F2A37"/>
                </a:solidFill>
                <a:latin typeface="Arial"/>
              </a:rPr>
              <a:t>Stocks that outperformed over the past year tend to keep outperforming over the next months — the most-replicated anomaly in asset pricing.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08792" cy="86868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61488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4B8A6"/>
                </a:solidFill>
                <a:latin typeface="Arial"/>
              </a:rPr>
              <a:t>AS COMPUTED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651760"/>
            <a:ext cx="8778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onsolas"/>
              </a:rPr>
              <a:t>Momentum = z ( close[t−21] / close[t−252] − 1 )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090879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1">
                <a:solidFill>
                  <a:srgbClr val="1F2A37"/>
                </a:solidFill>
                <a:latin typeface="Arial"/>
              </a:rPr>
              <a:t>12-1 construction. </a:t>
            </a:r>
            <a:r>
              <a:rPr sz="1400" b="0">
                <a:solidFill>
                  <a:srgbClr val="1F2A37"/>
                </a:solidFill>
                <a:latin typeface="Arial"/>
              </a:rPr>
              <a:t>Trailing 12-month return, skipping the most recent month (the 1-month reversal window) — the canonical academic definition.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1">
                <a:solidFill>
                  <a:srgbClr val="1F2A37"/>
                </a:solidFill>
                <a:latin typeface="Arial"/>
              </a:rPr>
              <a:t>Recomputed daily. </a:t>
            </a:r>
            <a:r>
              <a:rPr sz="1400" b="0">
                <a:solidFill>
                  <a:srgbClr val="1F2A37"/>
                </a:solidFill>
                <a:latin typeface="Arial"/>
              </a:rPr>
              <a:t>A pure price derivative, refreshed from each day's close — the fastest-moving of the four sleeves (D19).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166359"/>
            <a:ext cx="91440" cy="8229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66359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E8C7E"/>
                </a:solidFill>
                <a:latin typeface="Arial"/>
              </a:rPr>
              <a:t>SEMINAL LITERATURE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458968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200" b="0">
                <a:solidFill>
                  <a:srgbClr val="6B7787"/>
                </a:solidFill>
                <a:latin typeface="Arial"/>
              </a:rPr>
              <a:t>Jegadeesh &amp; Titman (1993), “Returns to Buying Winners and Selling Losers,” J. of Finance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200" b="0">
                <a:solidFill>
                  <a:srgbClr val="6B7787"/>
                </a:solidFill>
                <a:latin typeface="Arial"/>
              </a:rPr>
              <a:t>Carhart (1997), “On Persistence in Mutual Fund Performance,” Journal of Finance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200" b="0">
                <a:solidFill>
                  <a:srgbClr val="6B7787"/>
                </a:solidFill>
                <a:latin typeface="Arial"/>
              </a:rPr>
              <a:t>Asness, Moskowitz &amp; Pedersen (2013), “Value and Momentum Everywhere,” J. of Finance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03 · FACTOR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Quality — own profitable, durable businesses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F2A37"/>
                </a:solidFill>
                <a:latin typeface="Arial"/>
              </a:rPr>
              <a:t>Profitable, high-margin firms have delivered higher risk-adjusted returns — the market underprices the persistence of profitability.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08792" cy="86868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61488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4B8A6"/>
                </a:solidFill>
                <a:latin typeface="Arial"/>
              </a:rPr>
              <a:t>AS COMPUTED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651760"/>
            <a:ext cx="8778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onsolas"/>
              </a:rPr>
              <a:t>Quality = z ( z(ROE) + z(gross margin) 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090879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1">
                <a:solidFill>
                  <a:srgbClr val="1F2A37"/>
                </a:solidFill>
                <a:latin typeface="Arial"/>
              </a:rPr>
              <a:t>Profitability core. </a:t>
            </a:r>
            <a:r>
              <a:rPr sz="1400" b="0">
                <a:solidFill>
                  <a:srgbClr val="1F2A37"/>
                </a:solidFill>
                <a:latin typeface="Arial"/>
              </a:rPr>
              <a:t>Return on equity and gross margin — Novy-Marx's result that gross profitability is the 'other side of value'.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1">
                <a:solidFill>
                  <a:srgbClr val="1F2A37"/>
                </a:solidFill>
                <a:latin typeface="Arial"/>
              </a:rPr>
              <a:t>Defensive by nature. </a:t>
            </a:r>
            <a:r>
              <a:rPr sz="1400" b="0">
                <a:solidFill>
                  <a:srgbClr val="1F2A37"/>
                </a:solidFill>
                <a:latin typeface="Arial"/>
              </a:rPr>
              <a:t>Quality names hold up in stress, so the optimizer tilts defensive automatically when they score well — no separate regime filter needed (D5).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166359"/>
            <a:ext cx="91440" cy="8229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66359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E8C7E"/>
                </a:solidFill>
                <a:latin typeface="Arial"/>
              </a:rPr>
              <a:t>SEMINAL LITERATURE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458968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200" b="0">
                <a:solidFill>
                  <a:srgbClr val="6B7787"/>
                </a:solidFill>
                <a:latin typeface="Arial"/>
              </a:rPr>
              <a:t>Novy-Marx (2013), “The Other Side of Value: The Gross Profitability Premium,” JFE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200" b="0">
                <a:solidFill>
                  <a:srgbClr val="6B7787"/>
                </a:solidFill>
                <a:latin typeface="Arial"/>
              </a:rPr>
              <a:t>Asness, Frazzini &amp; Pedersen (2019), “Quality Minus Junk,” Review of Accounting Studies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200" b="0">
                <a:solidFill>
                  <a:srgbClr val="6B7787"/>
                </a:solidFill>
                <a:latin typeface="Arial"/>
              </a:rPr>
              <a:t>Piotroski (2000), “Value Investing: … Winners from Losers …,” J. of Accounting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03 · FACTOR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Low-volatility — the low-risk anomaly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F2A37"/>
                </a:solidFill>
                <a:latin typeface="Arial"/>
              </a:rPr>
              <a:t>Low-volatility stocks have historically delivered higher risk-adjusted returns than high-vol ones — the opposite of what CAPM predicts (leverage-constrained investors over-pay for risk).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08792" cy="86868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61488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4B8A6"/>
                </a:solidFill>
                <a:latin typeface="Arial"/>
              </a:rPr>
              <a:t>AS COMPUTED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651760"/>
            <a:ext cx="8778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onsolas"/>
              </a:rPr>
              <a:t>Low-vol = z ( − realized vol ),   σ of daily returns over the trailing 252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090879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1">
                <a:solidFill>
                  <a:srgbClr val="1F2A37"/>
                </a:solidFill>
                <a:latin typeface="Arial"/>
              </a:rPr>
              <a:t>Negated, then z-scored. </a:t>
            </a:r>
            <a:r>
              <a:rPr sz="1400" b="0">
                <a:solidFill>
                  <a:srgbClr val="1F2A37"/>
                </a:solidFill>
                <a:latin typeface="Arial"/>
              </a:rPr>
              <a:t>Lower vol → higher score. Scale-invariant, so it needs no annualization for the cross-section.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1">
                <a:solidFill>
                  <a:srgbClr val="1F2A37"/>
                </a:solidFill>
                <a:latin typeface="Arial"/>
              </a:rPr>
              <a:t>Carries the defense. </a:t>
            </a:r>
            <a:r>
              <a:rPr sz="1400" b="0">
                <a:solidFill>
                  <a:srgbClr val="1F2A37"/>
                </a:solidFill>
                <a:latin typeface="Arial"/>
              </a:rPr>
              <a:t>Together with Quality, this is why the book needs no explicit risk-off switch — it tilts defensive endogenously.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166359"/>
            <a:ext cx="91440" cy="8229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66359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E8C7E"/>
                </a:solidFill>
                <a:latin typeface="Arial"/>
              </a:rPr>
              <a:t>SEMINAL LITERATURE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458968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200" b="0">
                <a:solidFill>
                  <a:srgbClr val="6B7787"/>
                </a:solidFill>
                <a:latin typeface="Arial"/>
              </a:rPr>
              <a:t>Ang, Hodrick, Xing &amp; Zhang (2006), “The Cross-Section of Volatility …,” J. of Finance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200" b="0">
                <a:solidFill>
                  <a:srgbClr val="6B7787"/>
                </a:solidFill>
                <a:latin typeface="Arial"/>
              </a:rPr>
              <a:t>Frazzini &amp; Pedersen (2014), “Betting Against Beta,” Journal of Financial Economics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200" b="0">
                <a:solidFill>
                  <a:srgbClr val="6B7787"/>
                </a:solidFill>
                <a:latin typeface="Arial"/>
              </a:rPr>
              <a:t>Baker, Bradley &amp; Wurgler (2011), “Benchmarks as Limits to Arbitrage,” Financial Analysts J.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03 · FACTOR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The composite — how the four become one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Robust standardization is the difference between true and nominal equal weighting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Cross-sectional z-scoring. </a:t>
            </a:r>
            <a:r>
              <a:rPr sz="1500" b="0">
                <a:solidFill>
                  <a:srgbClr val="1F2A37"/>
                </a:solidFill>
                <a:latin typeface="Arial"/>
              </a:rPr>
              <a:t>Each metric is standardized across the universe on the date, so 'good' means good relative to peers — not an absolute threshold.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Winsorize before standardizing (1% / 99%). </a:t>
            </a:r>
            <a:r>
              <a:rPr sz="1500" b="0">
                <a:solidFill>
                  <a:srgbClr val="1F2A37"/>
                </a:solidFill>
                <a:latin typeface="Arial"/>
              </a:rPr>
              <a:t>Raw metrics are clipped to their 1st–99th percentiles first, so a stock up 5000% or a tiny-denominator E/P can't inflate σ and crush every other name toward zero. Each sub-score comes out at ~unit variance.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Unit variance is what makes equal-weight honest. </a:t>
            </a:r>
            <a:r>
              <a:rPr sz="1500" b="0">
                <a:solidFill>
                  <a:srgbClr val="1F2A37"/>
                </a:solidFill>
                <a:latin typeface="Arial"/>
              </a:rPr>
              <a:t>Because all four sub-scores share the same scale, 25% each really is 25% — no factor silently dominates.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Missing inputs are neutral-filled (z = 0). </a:t>
            </a:r>
            <a:r>
              <a:rPr sz="1500" b="0">
                <a:solidFill>
                  <a:srgbClr val="1F2A37"/>
                </a:solidFill>
                <a:latin typeface="Arial"/>
              </a:rPr>
              <a:t>A name missing one metric is scored on the rest at the average, rather than dropped — and flagged 'stale' for transparency.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03 · FACTOR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Point-in-time discipline — no looking ahead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The single most important guard against an over-optimistic backtest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Fundamentals are usable only once they were public. </a:t>
            </a:r>
            <a:r>
              <a:rPr sz="1500" b="0">
                <a:solidFill>
                  <a:srgbClr val="1F2A37"/>
                </a:solidFill>
                <a:latin typeface="Arial"/>
              </a:rPr>
              <a:t>A quarter enters the score only when its real SEC filing date is on or before the as-of date — never the quarter-end.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This is the line between a real backtest and a fantasy. </a:t>
            </a:r>
            <a:r>
              <a:rPr sz="1500" b="0">
                <a:solidFill>
                  <a:srgbClr val="1F2A37"/>
                </a:solidFill>
                <a:latin typeface="Arial"/>
              </a:rPr>
              <a:t>Using restated or not-yet-filed fundamentals would make historical Value/Quality scores artificially prescient.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Sourced from SEC EDGAR XBRL. </a:t>
            </a:r>
            <a:r>
              <a:rPr sz="1500" b="0">
                <a:solidFill>
                  <a:srgbClr val="1F2A37"/>
                </a:solidFill>
                <a:latin typeface="Arial"/>
              </a:rPr>
              <a:t>Each fact carries its filing date, so point-in-time correctness is structural — not a heuristic lag we bolted on (D22).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Price factors refresh daily; fundamentals on each new filing. </a:t>
            </a:r>
            <a:r>
              <a:rPr sz="1500" b="0">
                <a:solidFill>
                  <a:srgbClr val="1F2A37"/>
                </a:solidFill>
                <a:latin typeface="Arial"/>
              </a:rPr>
              <a:t>Momentum and vol move with prices; ROE and margins don't change between earnings, so they update only when a filing appears (D19).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0" b="1">
                <a:solidFill>
                  <a:srgbClr val="2A4760"/>
                </a:solidFill>
                <a:latin typeface="Arial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21945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Portfolio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9FADBC"/>
                </a:solidFill>
                <a:latin typeface="Arial"/>
              </a:rPr>
              <a:t>From scores to weights — the alpha model selects, the constraints diversify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04 ·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Scores → expected returns → an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A convex max-Sharpe optimizer with capital-preservation constraints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Step 1 — rank to a return proxy. </a:t>
            </a:r>
            <a:r>
              <a:rPr sz="1500" b="0">
                <a:solidFill>
                  <a:srgbClr val="1F2A37"/>
                </a:solidFill>
                <a:latin typeface="Arial"/>
              </a:rPr>
              <a:t>The composite score becomes a stand-in expected return:  μ = rank(composite)/N × scale.  Best-scoring names get the highest μ (D20).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Step 2 — pre-select the top 50 by score. </a:t>
            </a:r>
            <a:r>
              <a:rPr sz="1500" b="0">
                <a:solidFill>
                  <a:srgbClr val="1F2A37"/>
                </a:solidFill>
                <a:latin typeface="Arial"/>
              </a:rPr>
              <a:t>Keeps the optimization small and focused on the names the signal actually likes.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Step 3 — solve a constrained optimization for weights: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300" b="1">
                <a:solidFill>
                  <a:srgbClr val="0E1B2A"/>
                </a:solidFill>
                <a:latin typeface="Arial"/>
              </a:rPr>
              <a:t>maximize  μᵀw  −  λ·wᵀΣw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300" b="0">
                <a:solidFill>
                  <a:srgbClr val="6B7787"/>
                </a:solidFill>
                <a:latin typeface="Arial"/>
              </a:rPr>
              <a:t>subject to:  Σw = 95% (rest cash) · 0 ≤ w ≤ 5% · sector ≤ 30% · min position $4k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Step 4 — enforce the minimum position. </a:t>
            </a:r>
            <a:r>
              <a:rPr sz="1500" b="0">
                <a:solidFill>
                  <a:srgbClr val="1F2A37"/>
                </a:solidFill>
                <a:latin typeface="Arial"/>
              </a:rPr>
              <a:t>Drop the single smallest sub-floor name, re-solve, repeat — which settles the book into the ~20-name interior.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Step 5 — relax gracefully if infeasible. </a:t>
            </a:r>
            <a:r>
              <a:rPr sz="1500" b="0">
                <a:solidFill>
                  <a:srgbClr val="1F2A37"/>
                </a:solidFill>
                <a:latin typeface="Arial"/>
              </a:rPr>
              <a:t>A ladder widens the sector cap and lowers the min position before ever holding stale weights (and alerting).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04 ·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The key decision: λ = 0 (alpha-driven weighting)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A counterintuitive choice the backtest forced — and it more than doubled the Sharpe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We turned the risk-aversion term off. </a:t>
            </a:r>
            <a:r>
              <a:rPr sz="1500" b="0">
                <a:solidFill>
                  <a:srgbClr val="1F2A37"/>
                </a:solidFill>
                <a:latin typeface="Arial"/>
              </a:rPr>
              <a:t>The objective becomes the pure linear program  max μᵀw  — the covariance penalty λ·wᵀΣw is set to zero (D25).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Why: the composite already prices risk. </a:t>
            </a:r>
            <a:r>
              <a:rPr sz="1500" b="0">
                <a:solidFill>
                  <a:srgbClr val="1F2A37"/>
                </a:solidFill>
                <a:latin typeface="Arial"/>
              </a:rPr>
              <a:t>Low-volatility is one of its four sub-scores. Adding a mean-variance penalty on top tilts toward low-vol a second time — double-counting the defense and costing ~10%/yr in backtest.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This is the institutional alpha-model / risk-model split. </a:t>
            </a:r>
            <a:r>
              <a:rPr sz="1500" b="0">
                <a:solidFill>
                  <a:srgbClr val="1F2A37"/>
                </a:solidFill>
                <a:latin typeface="Arial"/>
              </a:rPr>
              <a:t>The alpha model (composite) selects names; the constraints (box, sector, min) diversify; the FF5 covariance is kept for risk reporting and a thin-history filter — not for weighting.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Sound, not reckless. </a:t>
            </a:r>
            <a:r>
              <a:rPr sz="1500" b="0">
                <a:solidFill>
                  <a:srgbClr val="1F2A37"/>
                </a:solidFill>
                <a:latin typeface="Arial"/>
              </a:rPr>
              <a:t>λ = 0 would normally concentrate in one name — but the 5% cap, 4% floor, and 30% sector cap force diversification regardless. The result is 'top ~20 by score, equal-weight at the cap, sector-limited'.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04 ·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Why λ = 0 — the decomposition that settled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2021–2026 walk-forward · same scores, same universe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176272"/>
          <a:ext cx="10908792" cy="25237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29600"/>
                <a:gridCol w="2679192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Optimizer configuration</a:t>
                      </a:r>
                    </a:p>
                  </a:txBody>
                  <a:tcPr anchor="ctr" marL="73152" marR="54864" marT="18288" marB="18288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Gross ann. return</a:t>
                      </a:r>
                    </a:p>
                  </a:txBody>
                  <a:tcPr anchor="ctr" marL="73152" marR="54864" marT="18288" marB="18288">
                    <a:solidFill>
                      <a:srgbClr val="0E1B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rial"/>
                        </a:rPr>
                        <a:t>λ = 1, sector cap 30%  (original mean-variance)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+2.3%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rial"/>
                        </a:rPr>
                        <a:t>λ ≈ 0, sector cap 30%</a:t>
                      </a:r>
                    </a:p>
                  </a:txBody>
                  <a:tcPr anchor="ctr" marL="73152" marR="54864" marT="18288" marB="18288"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E1B2A"/>
                          </a:solidFill>
                          <a:latin typeface="Arial"/>
                        </a:rPr>
                        <a:t>+12.8%</a:t>
                      </a:r>
                    </a:p>
                  </a:txBody>
                  <a:tcPr anchor="ctr" marL="73152" marR="54864" marT="18288" marB="18288">
                    <a:solidFill>
                      <a:srgbClr val="ECF6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rial"/>
                        </a:rPr>
                        <a:t>λ = 1, no sector cap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+2.4%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rial"/>
                        </a:rPr>
                        <a:t>λ ≈ 0, no sector cap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+12.2%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rial"/>
                        </a:rPr>
                        <a:t>Naive top-19 equal-weight by composite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+13.7%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809744"/>
            <a:ext cx="10908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787"/>
                </a:solidFill>
                <a:latin typeface="Arial"/>
              </a:rPr>
              <a:t>The risk term — not the sector caps — was suppressing return. Removing it lifted net return to +14.0%/yr and Sharpe from 0.15 to 0.75. The risk model still monitors; it just no longer drives the weights. (DECISIONS D25)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04 ·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Constraints are the risk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Diversification is enforced structurally, not hoped 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5% maximum single name. </a:t>
            </a:r>
            <a:r>
              <a:rPr sz="1500" b="0">
                <a:solidFill>
                  <a:srgbClr val="1F2A37"/>
                </a:solidFill>
                <a:latin typeface="Arial"/>
              </a:rPr>
              <a:t>The real lever on concentration. It — not λ — sets the name count: ~budget / max-name ≈ 19–20 names. At 10% the top five names were half the book; 5% is the capital-preservation choice (D24).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4% minimum funded position. </a:t>
            </a:r>
            <a:r>
              <a:rPr sz="1500" b="0">
                <a:solidFill>
                  <a:srgbClr val="1F2A37"/>
                </a:solidFill>
                <a:latin typeface="Arial"/>
              </a:rPr>
              <a:t>No tiny, unmanageable slivers; also the threshold below which a position can't support even one option contract.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30% sector cap. </a:t>
            </a:r>
            <a:r>
              <a:rPr sz="1500" b="0">
                <a:solidFill>
                  <a:srgbClr val="1F2A37"/>
                </a:solidFill>
                <a:latin typeface="Arial"/>
              </a:rPr>
              <a:t>No single sector can dominate — binds in practice (e.g. Financials) and forces breadth.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95% invested, 5% cash buffer. </a:t>
            </a:r>
            <a:r>
              <a:rPr sz="1500" b="0">
                <a:solidFill>
                  <a:srgbClr val="1F2A37"/>
                </a:solidFill>
                <a:latin typeface="Arial"/>
              </a:rPr>
              <a:t>Stable base allocation at all times; no regime-driven de-risking (the factors handle defense).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FF5 covariance, retained for risk. </a:t>
            </a:r>
            <a:r>
              <a:rPr sz="1500" b="0">
                <a:solidFill>
                  <a:srgbClr val="1F2A37"/>
                </a:solidFill>
                <a:latin typeface="Arial"/>
              </a:rPr>
              <a:t>Σ = B·cov(F)·Bᵀ + D from the Fama-French 5-factor model — well-conditioned for any universe size; powers the risk panel and the thin-history filter (D8 / D23a).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0" b="1">
                <a:solidFill>
                  <a:srgbClr val="2A4760"/>
                </a:solidFill>
                <a:latin typeface="Arial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21945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The income overlay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9FADBC"/>
                </a:solidFill>
                <a:latin typeface="Arial"/>
              </a:rPr>
              <a:t>How covered calls are chosen, written, and managed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05 · INCOME OVERLAY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Selecting the strike — the load-bearing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Compute delta from the chain → target 0.30 → write at the mid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Alpaca's chains give strikes and bid/ask, but no Greeks. </a:t>
            </a:r>
            <a:r>
              <a:rPr sz="1500" b="0">
                <a:solidFill>
                  <a:srgbClr val="1F2A37"/>
                </a:solidFill>
                <a:latin typeface="Arial"/>
              </a:rPr>
              <a:t>So the engine computes delta itself, using Black-Scholes — the indicative feed has no delta to read.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1 · Estimate implied volatility. </a:t>
            </a:r>
            <a:r>
              <a:rPr sz="1500" b="0">
                <a:solidFill>
                  <a:srgbClr val="1F2A37"/>
                </a:solidFill>
                <a:latin typeface="Arial"/>
              </a:rPr>
              <a:t>IV ≈ annualized trailing realized volatility — the conservative, data-available basis.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2 · Price delta for every strike in the 30–45 DTE window. </a:t>
            </a:r>
            <a:r>
              <a:rPr sz="1500" b="0">
                <a:solidFill>
                  <a:srgbClr val="1F2A37"/>
                </a:solidFill>
                <a:latin typeface="Arial"/>
              </a:rPr>
              <a:t>Black-Scholes call delta from spot and the IV estimate.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3 · Pick the strike nearest 0.30 delta. </a:t>
            </a:r>
            <a:r>
              <a:rPr sz="1500" b="0">
                <a:solidFill>
                  <a:srgbClr val="1F2A37"/>
                </a:solidFill>
                <a:latin typeface="Arial"/>
              </a:rPr>
              <a:t>≈ 30% probability of assignment — enough premium, but lets most winners run.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4 · Sell-to-open a limit at the chain mid. </a:t>
            </a:r>
            <a:r>
              <a:rPr sz="1500" b="0">
                <a:solidFill>
                  <a:srgbClr val="1F2A37"/>
                </a:solidFill>
                <a:latin typeface="Arial"/>
              </a:rPr>
              <a:t>Real premium from the real chain, not a modeled number. One standard contract per 100 shares held.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05 · INCOME OVERLAY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Why 0.30 delta — the sweep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Decision D29 — 0.30 delta balances premium income against names called away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Delta only pays when implied vol exceeds realized. </a:t>
            </a:r>
            <a:r>
              <a:rPr sz="1500" b="0">
                <a:solidFill>
                  <a:srgbClr val="1F2A37"/>
                </a:solidFill>
                <a:latin typeface="Arial"/>
              </a:rPr>
              <a:t>At the realized-vol floor (zero premium) Sharpe is flat across delta — selling vol is the whole point.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At market-implied IV, Sharpe climbs with delta … </a:t>
            </a:r>
            <a:r>
              <a:rPr sz="1500" b="0">
                <a:solidFill>
                  <a:srgbClr val="1F2A37"/>
                </a:solidFill>
                <a:latin typeface="Arial"/>
              </a:rPr>
              <a:t>0.25 → 1.18,  0.30 → 1.31,  0.35 → 1.43,  0.40 → 1.52  — more premium harvested.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… but assignment crosses the 30% cap near 0.35. </a:t>
            </a:r>
            <a:r>
              <a:rPr sz="1500" b="0">
                <a:solidFill>
                  <a:srgbClr val="1F2A37"/>
                </a:solidFill>
                <a:latin typeface="Arial"/>
              </a:rPr>
              <a:t>0.35 → 30% assigned, 0.40 → 36%. Too much of the book gets called away.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0.30 is the balanced step up (D29). </a:t>
            </a:r>
            <a:r>
              <a:rPr sz="1500" b="0">
                <a:solidFill>
                  <a:srgbClr val="1F2A37"/>
                </a:solidFill>
                <a:latin typeface="Arial"/>
              </a:rPr>
              <a:t>Market Sharpe 1.31, assignment a comfortable 22%, ~26%/yr premium — raised from 0.25, which left premium on the 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05 · INCOME OVERLAY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Lifecycle — one monthly cadence, plus safety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The live design is identical to the backtested model — by construction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Monthly close-all, then rewrite fresh. </a:t>
            </a:r>
            <a:r>
              <a:rPr sz="1500" b="0">
                <a:solidFill>
                  <a:srgbClr val="1F2A37"/>
                </a:solidFill>
                <a:latin typeface="Arial"/>
              </a:rPr>
              <a:t>At each rebalance every open call is bought to close before equity trades; new calls are written against the new book. Always aligned to current positions, always simple (D15 / D31).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Close before earnings, rewrite after. </a:t>
            </a:r>
            <a:r>
              <a:rPr sz="1500" b="0">
                <a:solidFill>
                  <a:srgbClr val="1F2A37"/>
                </a:solidFill>
                <a:latin typeface="Arial"/>
              </a:rPr>
              <a:t>The one event-driven exception: earnings gaps make calls binary, so any call facing an announcement in its life is closed first (D16).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Force-close at expiry. </a:t>
            </a:r>
            <a:r>
              <a:rPr sz="1500" b="0">
                <a:solidFill>
                  <a:srgbClr val="1F2A37"/>
                </a:solidFill>
                <a:latin typeface="Arial"/>
              </a:rPr>
              <a:t>No call is left to expire uncontrolled.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Conditional re-entry on assignment. </a:t>
            </a:r>
            <a:r>
              <a:rPr sz="1500" b="0">
                <a:solidFill>
                  <a:srgbClr val="1F2A37"/>
                </a:solidFill>
                <a:latin typeface="Arial"/>
              </a:rPr>
              <a:t>If a name is called away, re-buy it only if its composite score still clears the threshold — don't chase a stock that just ran past your strike (D9).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No mid-cycle roll. </a:t>
            </a:r>
            <a:r>
              <a:rPr sz="1500" b="0">
                <a:solidFill>
                  <a:srgbClr val="1F2A37"/>
                </a:solidFill>
                <a:latin typeface="Arial"/>
              </a:rPr>
              <a:t>30–45 DTE covers the ~1-month hold; this matches exactly what the backtest modeled — nothing runs live that wasn't measured (D31).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05 · INCOME OVERLAY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An honest limit: coverage and leverage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Decision D32 — the coverage constraint, and the trade-off taken to work around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Standard 100-share contracts only. </a:t>
            </a:r>
            <a:r>
              <a:rPr sz="1500" b="0">
                <a:solidFill>
                  <a:srgbClr val="1F2A37"/>
                </a:solidFill>
                <a:latin typeface="Arial"/>
              </a:rPr>
              <a:t>Single-name 10-share 'mini' options were delisted ~2014. A position must hold ≥ 100 shares to be coverable — there is no fractional-contract path (D32).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At ~$10k per name, only part of the book clears that bar. </a:t>
            </a:r>
            <a:r>
              <a:rPr sz="1500" b="0">
                <a:solidFill>
                  <a:srgbClr val="1F2A37"/>
                </a:solidFill>
                <a:latin typeface="Arial"/>
              </a:rPr>
              <a:t>On $100+ stocks a $10k position is under 100 shares — so the high-priced tail stays uncovered.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This is why the paper book runs at 2:1 gross leverage. </a:t>
            </a:r>
            <a:r>
              <a:rPr sz="1500" b="0">
                <a:solidFill>
                  <a:srgbClr val="1F2A37"/>
                </a:solidFill>
                <a:latin typeface="Arial"/>
              </a:rPr>
              <a:t>Doubling the deployable base lifts coverage from ~6 to ~10 of ~19 names — enough to actually exercise the overlay on the paper account (D32).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C68A2E"/>
                </a:solidFill>
                <a:latin typeface="Arial"/>
              </a:rPr>
              <a:t>▪  </a:t>
            </a:r>
            <a:r>
              <a:rPr sz="1500" b="1">
                <a:solidFill>
                  <a:srgbClr val="C68A2E"/>
                </a:solidFill>
                <a:latin typeface="Arial"/>
              </a:rPr>
              <a:t>Stated plainly: 2:1 scales the path. </a:t>
            </a:r>
            <a:r>
              <a:rPr sz="1500" b="0">
                <a:solidFill>
                  <a:srgbClr val="C68A2E"/>
                </a:solidFill>
                <a:latin typeface="Arial"/>
              </a:rPr>
              <a:t>Leverage doesn't change Sharpe but roughly doubles drawdowns. It was deferred to a later phase; on a reversible paper book it makes the overlay testable. The leverage level is revisited before any real capital.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0" b="1">
                <a:solidFill>
                  <a:srgbClr val="2A4760"/>
                </a:solidFill>
                <a:latin typeface="Arial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21945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The data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9FADBC"/>
                </a:solidFill>
                <a:latin typeface="Arial"/>
              </a:rPr>
              <a:t>A daily, idempotent flow from raw data to live orders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06 ·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The daily pipeline,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Idempotent and safe to re-run mid-rebalance — reconciled against the broker every startup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1627632" cy="1143000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73452"/>
            <a:ext cx="1627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875788"/>
            <a:ext cx="15179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EBCC9"/>
                </a:solidFill>
                <a:latin typeface="Arial"/>
              </a:rPr>
              <a:t>prices +
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6856" y="262890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B8A6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2286000"/>
            <a:ext cx="1627632" cy="1143000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2473452"/>
            <a:ext cx="1627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FACTORS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9464" y="2875788"/>
            <a:ext cx="15179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EBCC9"/>
                </a:solidFill>
                <a:latin typeface="Arial"/>
              </a:rPr>
              <a:t>composite
scores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376" y="262890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B8A6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286000"/>
            <a:ext cx="1627632" cy="1143000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473452"/>
            <a:ext cx="1627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OPTIMIZE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3" y="2875788"/>
            <a:ext cx="15179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EBCC9"/>
                </a:solidFill>
                <a:latin typeface="Arial"/>
              </a:rPr>
              <a:t>target
weights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25896" y="262890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B8A6"/>
                </a:solidFill>
                <a:latin typeface="Arial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286000"/>
            <a:ext cx="1627632" cy="1143000"/>
          </a:xfrm>
          <a:prstGeom prst="roundRect">
            <a:avLst>
              <a:gd name="adj" fmla="val 12000"/>
            </a:avLst>
          </a:prstGeom>
          <a:solidFill>
            <a:srgbClr val="0E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473452"/>
            <a:ext cx="1627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OVERLAY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3" y="2875788"/>
            <a:ext cx="15179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EBCC9"/>
                </a:solidFill>
                <a:latin typeface="Arial"/>
              </a:rPr>
              <a:t>covered-call
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0415" y="262890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B8A6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59" y="2286000"/>
            <a:ext cx="1627632" cy="1143000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59" y="2473452"/>
            <a:ext cx="1627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3" y="2875788"/>
            <a:ext cx="15179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EBCC9"/>
                </a:solidFill>
                <a:latin typeface="Arial"/>
              </a:rPr>
              <a:t>pre-trade
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4935" y="262890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B8A6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12680" y="2286000"/>
            <a:ext cx="1627632" cy="1143000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12680" y="2473452"/>
            <a:ext cx="1627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EXECUTE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67544" y="2875788"/>
            <a:ext cx="15179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EBCC9"/>
                </a:solidFill>
                <a:latin typeface="Arial"/>
              </a:rPr>
              <a:t>orders →
Alpaca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3657600"/>
            <a:ext cx="17780" cy="41148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4160520"/>
            <a:ext cx="5212080" cy="914400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233672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E1B2A"/>
                </a:solidFill>
                <a:latin typeface="Arial"/>
              </a:rPr>
              <a:t>PostgreSQL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4636007"/>
            <a:ext cx="5102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787"/>
                </a:solidFill>
                <a:latin typeface="Arial"/>
              </a:rPr>
              <a:t>operational state: orders · fills · snapshots · lifecycle · audit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36792" y="4160520"/>
            <a:ext cx="5212080" cy="914400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233672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E1B2A"/>
                </a:solidFill>
                <a:latin typeface="Arial"/>
              </a:rPr>
              <a:t>Live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1655" y="4636007"/>
            <a:ext cx="5102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787"/>
                </a:solidFill>
                <a:latin typeface="Arial"/>
              </a:rPr>
              <a:t>NAV · holdings · factor tilt · risk · execution · backtest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440680"/>
            <a:ext cx="109087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A37"/>
                </a:solidFill>
                <a:latin typeface="Arial"/>
              </a:rPr>
              <a:t>Research and live share the same code. </a:t>
            </a:r>
            <a:r>
              <a:rPr sz="1400" b="0">
                <a:solidFill>
                  <a:srgbClr val="6B7787"/>
                </a:solidFill>
                <a:latin typeface="Arial"/>
              </a:rPr>
              <a:t>Backfill, daily ingest, and the backtest reuse the identical factor, optimizer, and execution logic — so what is validated is exactly what runs.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06 ·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Three data sources, three clear jobs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A deliberately small, free, auditable data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Alpaca — market data, options &amp; execution. </a:t>
            </a:r>
            <a:r>
              <a:rPr sz="1500" b="0">
                <a:solidFill>
                  <a:srgbClr val="1F2A37"/>
                </a:solidFill>
                <a:latin typeface="Arial"/>
              </a:rPr>
              <a:t>Daily OHLCV (adjustment='all' for corporate actions), option chains for the overlay, and order routing. The broker is the source of truth.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SEC EDGAR — fundamentals. </a:t>
            </a:r>
            <a:r>
              <a:rPr sz="1500" b="0">
                <a:solidFill>
                  <a:srgbClr val="1F2A37"/>
                </a:solidFill>
                <a:latin typeface="Arial"/>
              </a:rPr>
              <a:t>The XBRL companyfacts API: free, authoritative, and genuinely point-in-time (each fact carries its filing date). US-GAAP filers back to ~2009; this is what feeds Quality and Value (D22).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Ken French data library — factor returns. </a:t>
            </a:r>
            <a:r>
              <a:rPr sz="1500" b="0">
                <a:solidFill>
                  <a:srgbClr val="1F2A37"/>
                </a:solidFill>
                <a:latin typeface="Arial"/>
              </a:rPr>
              <a:t>The daily Fama-French 5-factor series, downloaded directly, to build the covariance matrix (D23a).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Stored in two layers. </a:t>
            </a:r>
            <a:r>
              <a:rPr sz="1500" b="0">
                <a:solidFill>
                  <a:srgbClr val="1F2A37"/>
                </a:solidFill>
                <a:latin typeface="Arial"/>
              </a:rPr>
              <a:t>Parquet for the raw research store (prices + fundamentals); PostgreSQL for operational state (orders, fills, snapshots, audit).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06 ·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Data integrity — the unglamorous half of the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Quietly the most important slides for anyone who has been burned by bad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Corporate actions. </a:t>
            </a:r>
            <a:r>
              <a:rPr sz="1500" b="0">
                <a:solidFill>
                  <a:srgbClr val="1F2A37"/>
                </a:solidFill>
                <a:latin typeface="Arial"/>
              </a:rPr>
              <a:t>All price pulls use adjustment='all' — splits and dividends never masquerade as returns.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Survivorship &amp; point-in-time. </a:t>
            </a:r>
            <a:r>
              <a:rPr sz="1500" b="0">
                <a:solidFill>
                  <a:srgbClr val="1F2A37"/>
                </a:solidFill>
                <a:latin typeface="Arial"/>
              </a:rPr>
              <a:t>Liquidity filter (ADV &gt; $1M, price &gt; $5) applied on each historical date, and fundamentals gated by real filing dates — the backtest doesn't get to know the future.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History floor is honest. </a:t>
            </a:r>
            <a:r>
              <a:rPr sz="1500" b="0">
                <a:solidFill>
                  <a:srgbClr val="1F2A37"/>
                </a:solidFill>
                <a:latin typeface="Arial"/>
              </a:rPr>
              <a:t>The free Alpaca IEX feed serves consolidated history from ~mid-2020. The paid SIP feed (full 2016+, consolidated tape) is a documented one-line upgrade — not a hidden dependency (D21).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Reconciled every startup. </a:t>
            </a:r>
            <a:r>
              <a:rPr sz="1500" b="0">
                <a:solidFill>
                  <a:srgbClr val="1F2A37"/>
                </a:solidFill>
                <a:latin typeface="Arial"/>
              </a:rPr>
              <a:t>PostgreSQL is checked against live Alpaca positions before anything trades; the broker always wins; the pipeline blocks if Alpaca is unreachable (D13).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06 ·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War story: when bad data hijacked the 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Why the universe is EDGAR-only — a real incident, caught by the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542032"/>
            <a:ext cx="109728" cy="2743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33472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0E1B2A"/>
                </a:solidFill>
                <a:latin typeface="Arial"/>
              </a:rPr>
              <a:t>“The dashboard showed the book had quietly rotated 65% into foreign ADRs. The cause wasn't the model — it was the data: ADR fundamentals from the yfinance fallback had P/E ratios near 0.01, so earnings-yield = 1/PE produced absurd Value scores and the optimizer piled in.”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852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6B7787"/>
                </a:solidFill>
                <a:latin typeface="Arial"/>
              </a:rPr>
              <a:t>Fix (D28): restrict the tradable universe to SEC-EDGAR US-GAAP filers. Returns fell to an honest +10.9%/yr, but all four factor sleeves turned healthily positive and the held names now have liquid options for the overlay. Lower, and far more defensible.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0" b="1">
                <a:solidFill>
                  <a:srgbClr val="2A4760"/>
                </a:solidFill>
                <a:latin typeface="Arial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21945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Execution, risk &amp;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9FADBC"/>
                </a:solidFill>
                <a:latin typeface="Arial"/>
              </a:rPr>
              <a:t>Routing orders safely — and the backtest that validates the whole thing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07 · EXECUTION &amp;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The execution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Reliable in-session fills also give the overlay real shares to write against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Reconcile first. </a:t>
            </a:r>
            <a:r>
              <a:rPr sz="1500" b="0">
                <a:solidFill>
                  <a:srgbClr val="1F2A37"/>
                </a:solidFill>
                <a:latin typeface="Arial"/>
              </a:rPr>
              <a:t>Every run starts by squaring the database to live Alpaca positions — self-correcting drift, halting only if the broker is unreachable.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Smart order routing. </a:t>
            </a:r>
            <a:r>
              <a:rPr sz="1500" b="0">
                <a:solidFill>
                  <a:srgbClr val="1F2A37"/>
                </a:solidFill>
                <a:latin typeface="Arial"/>
              </a:rPr>
              <a:t>Market orders for deep, tight names; otherwise a marketable limit that crosses the spread by up to 50 bps so it actually fills in-session, rather than resting passively at the mid and never filling (D35).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Fill, then defer. </a:t>
            </a:r>
            <a:r>
              <a:rPr sz="1500" b="0">
                <a:solidFill>
                  <a:srgbClr val="1F2A37"/>
                </a:solidFill>
                <a:latin typeface="Arial"/>
              </a:rPr>
              <a:t>Orders poll for ~60s, then cancel; anything unfilled rolls into pending adjustments and is completed by the monthly catch-up — never left dangling.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Slippage measured against arrival mid. </a:t>
            </a:r>
            <a:r>
              <a:rPr sz="1500" b="0">
                <a:solidFill>
                  <a:srgbClr val="1F2A37"/>
                </a:solidFill>
                <a:latin typeface="Arial"/>
              </a:rPr>
              <a:t>Every fill is priced versus the quote at submission, surfaced on the dashboard's execution panel.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Idempotent and crash-safe. </a:t>
            </a:r>
            <a:r>
              <a:rPr sz="1500" b="0">
                <a:solidFill>
                  <a:srgbClr val="1F2A37"/>
                </a:solidFill>
                <a:latin typeface="Arial"/>
              </a:rPr>
              <a:t>Client-order-IDs make re-runs safe; transient broker read errors are caught so a hiccup can't leave working orders uncancelled.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07 · EXECUTION &amp;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The pre-trade risk gate &amp;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For an investment committee, this is the section that matters most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Leverage cap. </a:t>
            </a:r>
            <a:r>
              <a:rPr sz="1500" b="0">
                <a:solidFill>
                  <a:srgbClr val="1F2A37"/>
                </a:solidFill>
                <a:latin typeface="Arial"/>
              </a:rPr>
              <a:t>Gross exposure is hard-capped; a target above the cap is blocked before any order is sent.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Covered-call coverage gate. </a:t>
            </a:r>
            <a:r>
              <a:rPr sz="1500" b="0">
                <a:solidFill>
                  <a:srgbClr val="1F2A37"/>
                </a:solidFill>
                <a:latin typeface="Arial"/>
              </a:rPr>
              <a:t>Re-derives share coverage on the option plan — a naked or expired call can never reach the broker, even on an upstream bug.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Complete-the-book catch-up. </a:t>
            </a:r>
            <a:r>
              <a:rPr sz="1500" b="0">
                <a:solidFill>
                  <a:srgbClr val="1F2A37"/>
                </a:solidFill>
                <a:latin typeface="Arial"/>
              </a:rPr>
              <a:t>A missed or partial rebalance is finished on later trading days until the book holds ≥ 80% of target names — then it stops (never twice a month) (D35).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Emergency killswitch. </a:t>
            </a:r>
            <a:r>
              <a:rPr sz="1500" b="0">
                <a:solidFill>
                  <a:srgbClr val="1F2A37"/>
                </a:solidFill>
                <a:latin typeface="Arial"/>
              </a:rPr>
              <a:t>One command halts the engine and cancels orders, or liquidates the entire book to cash.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Everything is logged. </a:t>
            </a:r>
            <a:r>
              <a:rPr sz="1500" b="0">
                <a:solidFill>
                  <a:srgbClr val="1F2A37"/>
                </a:solidFill>
                <a:latin typeface="Arial"/>
              </a:rPr>
              <a:t>Every factor score, order, fill, and drift value — structured JSON, retained, auditable.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07 · EXECUTION &amp;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How the strategy was 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Methodology rigor is the defense against “you just overfit it”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Walk-forward backtest. </a:t>
            </a:r>
            <a:r>
              <a:rPr sz="1500" b="0">
                <a:solidFill>
                  <a:srgbClr val="1F2A37"/>
                </a:solidFill>
                <a:latin typeface="Arial"/>
              </a:rPr>
              <a:t>Monthly rebalances over 2021-09 → 2026-06 (~58 months), scoring and optimizing on point-in-time data exactly as the live engine does.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Realistic transaction costs. </a:t>
            </a:r>
            <a:r>
              <a:rPr sz="1500" b="0">
                <a:solidFill>
                  <a:srgbClr val="1F2A37"/>
                </a:solidFill>
                <a:latin typeface="Arial"/>
              </a:rPr>
              <a:t>A half-spread charged in basis points, tiered by liquidity (5 / 10 / 20 bps by ADV) — not a frictionless fantasy (D23d).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Real option premiums where available. </a:t>
            </a:r>
            <a:r>
              <a:rPr sz="1500" b="0">
                <a:solidFill>
                  <a:srgbClr val="1F2A37"/>
                </a:solidFill>
                <a:latin typeface="Arial"/>
              </a:rPr>
              <a:t>Covered-call premiums use real historical chains (DoltHub) with real strikes and implied vol; gaps fall back to a Black-Scholes estimate, and genuinely non-optionable names are left unhedged (D33).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Engine validated against the real index. </a:t>
            </a:r>
            <a:r>
              <a:rPr sz="1500" b="0">
                <a:solidFill>
                  <a:srgbClr val="1F2A37"/>
                </a:solidFill>
                <a:latin typeface="Arial"/>
              </a:rPr>
              <a:t>Run on SPY priced off actual VIX, the option machinery reproduces CBOE's ^BXM BuyWrite index (model +9.8%/yr vs +7.9%, monthly correlation 0.79).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07 · EXECUTION &amp;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Backtest results — 2021–2026 walk-forward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The overlay is the story: comparable return, far lower volatility and drawdown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176272"/>
          <a:ext cx="10908792" cy="25237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1417320"/>
                <a:gridCol w="1371600"/>
                <a:gridCol w="1051560"/>
                <a:gridCol w="1234440"/>
                <a:gridCol w="1627632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Configuration</a:t>
                      </a:r>
                    </a:p>
                  </a:txBody>
                  <a:tcPr anchor="ctr" marL="73152" marR="54864" marT="18288" marB="18288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Ann. return</a:t>
                      </a:r>
                    </a:p>
                  </a:txBody>
                  <a:tcPr anchor="ctr" marL="73152" marR="54864" marT="18288" marB="18288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Volatility</a:t>
                      </a:r>
                    </a:p>
                  </a:txBody>
                  <a:tcPr anchor="ctr" marL="73152" marR="54864" marT="18288" marB="18288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Sharpe</a:t>
                      </a:r>
                    </a:p>
                  </a:txBody>
                  <a:tcPr anchor="ctr" marL="73152" marR="54864" marT="18288" marB="18288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Max DD</a:t>
                      </a:r>
                    </a:p>
                  </a:txBody>
                  <a:tcPr anchor="ctr" marL="73152" marR="54864" marT="18288" marB="18288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Premium/yr</a:t>
                      </a:r>
                    </a:p>
                  </a:txBody>
                  <a:tcPr anchor="ctr" marL="73152" marR="54864" marT="18288" marB="18288">
                    <a:solidFill>
                      <a:srgbClr val="0E1B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1B2A"/>
                          </a:solidFill>
                          <a:latin typeface="Arial"/>
                        </a:rPr>
                        <a:t>Equity only (clean EDGAR universe)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+10.9%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~20%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0.62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−26%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1B2A"/>
                          </a:solidFill>
                          <a:latin typeface="Arial"/>
                        </a:rPr>
                        <a:t>+ covered-call overlay (real premiums)</a:t>
                      </a:r>
                    </a:p>
                  </a:txBody>
                  <a:tcPr anchor="ctr" marL="73152" marR="54864" marT="18288" marB="18288"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E1B2A"/>
                          </a:solidFill>
                          <a:latin typeface="Arial"/>
                        </a:rPr>
                        <a:t>+19.6%</a:t>
                      </a:r>
                    </a:p>
                  </a:txBody>
                  <a:tcPr anchor="ctr" marL="73152" marR="54864" marT="18288" marB="18288"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E1B2A"/>
                          </a:solidFill>
                          <a:latin typeface="Arial"/>
                        </a:rPr>
                        <a:t>15.5%</a:t>
                      </a:r>
                    </a:p>
                  </a:txBody>
                  <a:tcPr anchor="ctr" marL="73152" marR="54864" marT="18288" marB="18288"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E1B2A"/>
                          </a:solidFill>
                          <a:latin typeface="Arial"/>
                        </a:rPr>
                        <a:t>1.24</a:t>
                      </a:r>
                    </a:p>
                  </a:txBody>
                  <a:tcPr anchor="ctr" marL="73152" marR="54864" marT="18288" marB="18288"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E1B2A"/>
                          </a:solidFill>
                          <a:latin typeface="Arial"/>
                        </a:rPr>
                        <a:t>−16.7%</a:t>
                      </a:r>
                    </a:p>
                  </a:txBody>
                  <a:tcPr anchor="ctr" marL="73152" marR="54864" marT="18288" marB="18288"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E1B2A"/>
                          </a:solidFill>
                          <a:latin typeface="Arial"/>
                        </a:rPr>
                        <a:t>24.8%</a:t>
                      </a:r>
                    </a:p>
                  </a:txBody>
                  <a:tcPr anchor="ctr" marL="73152" marR="54864" marT="18288" marB="18288">
                    <a:solidFill>
                      <a:srgbClr val="ECF6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1B2A"/>
                          </a:solidFill>
                          <a:latin typeface="Arial"/>
                        </a:rPr>
                        <a:t>+ overlay (modeled market-IV)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~+19%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~16%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1.31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~−17%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26.3%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1B2A"/>
                          </a:solidFill>
                          <a:latin typeface="Arial"/>
                        </a:rPr>
                        <a:t>+ put-wheel blend (optional, 1×)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+18.7%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12.9%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1.40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−12.8%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1B2A"/>
                          </a:solidFill>
                          <a:latin typeface="Arial"/>
                        </a:rPr>
                        <a:t>Benchmark: SPY (buy &amp; hold)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+11.1%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~20%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0.76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809744"/>
            <a:ext cx="10908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787"/>
                </a:solidFill>
                <a:latin typeface="Arial"/>
              </a:rPr>
              <a:t>1× (unlevered) basis. The overlay improves volatility, drawdown and income unconditionally; the Sharpe lift depends on premium richness, which the live paper book will confirm. Sources: DECISIONS D25 / D27 / D28 / D33 / D34.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07 · EXECUTION &amp;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The volatility risk premium, measured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The premium the overlay harvests is real and persistent (D33)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450592"/>
            <a:ext cx="2521458" cy="192024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450592"/>
            <a:ext cx="2521458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07792"/>
            <a:ext cx="25214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0E1B2A"/>
                </a:solidFill>
                <a:latin typeface="Arial"/>
              </a:rPr>
              <a:t>+5.2 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76472"/>
            <a:ext cx="2247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6B7787"/>
                </a:solidFill>
                <a:latin typeface="Arial"/>
              </a:rPr>
              <a:t>Implied vol sold (38.4%)
over realized (33.2%)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5857" y="2450592"/>
            <a:ext cx="2521458" cy="192024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5857" y="2450592"/>
            <a:ext cx="2521458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5857" y="2907792"/>
            <a:ext cx="25214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0E1B2A"/>
                </a:solidFill>
                <a:latin typeface="Arial"/>
              </a:rPr>
              <a:t>78%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3017" y="3776472"/>
            <a:ext cx="2247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6B7787"/>
                </a:solidFill>
                <a:latin typeface="Arial"/>
              </a:rPr>
              <a:t>of months with
implied &gt; realized vol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1636" y="2450592"/>
            <a:ext cx="2521458" cy="192024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1636" y="2450592"/>
            <a:ext cx="2521458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1636" y="2907792"/>
            <a:ext cx="25214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0E1B2A"/>
                </a:solidFill>
                <a:latin typeface="Arial"/>
              </a:rPr>
              <a:t>1.16×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8796" y="3776472"/>
            <a:ext cx="2247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6B7787"/>
                </a:solidFill>
                <a:latin typeface="Arial"/>
              </a:rPr>
              <a:t>Average implied / realized
volatility ratio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7413" y="2450592"/>
            <a:ext cx="2521458" cy="192024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27413" y="2450592"/>
            <a:ext cx="2521458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27413" y="2907792"/>
            <a:ext cx="25214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0E1B2A"/>
                </a:solidFill>
                <a:latin typeface="Arial"/>
              </a:rPr>
              <a:t>22%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4574" y="3776472"/>
            <a:ext cx="2247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6B7787"/>
                </a:solidFill>
                <a:latin typeface="Arial"/>
              </a:rPr>
              <a:t>Assignment rate
(under the 30% cap)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90872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6B7787"/>
                </a:solidFill>
                <a:latin typeface="Arial"/>
              </a:rPr>
              <a:t>Caveat worth stating: the variance term (IV² − RV²) is slightly negative — the premium is tail-dominated, so a few large single-name moves swamp the steady carry. The 0.30-delta strike caps exactly that tail, which is why the overlay still beats equity-only.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07 · EXECUTION &amp;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What we are honest about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Naming the weaknesses is what makes the strengths credible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Premium income is partly modeled. </a:t>
            </a:r>
            <a:r>
              <a:rPr sz="1500" b="0">
                <a:solidFill>
                  <a:srgbClr val="1F2A37"/>
                </a:solidFill>
                <a:latin typeface="Arial"/>
              </a:rPr>
              <a:t>No free historical single-name implied vol exists, so where real chains are missing, premium is Black-Scholes-estimated and sensitivity-tested. The upside given up is always exact; only the income is modeled (D27).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Fundamentals carry mild restatement look-ahead. </a:t>
            </a:r>
            <a:r>
              <a:rPr sz="1500" b="0">
                <a:solidFill>
                  <a:srgbClr val="1F2A37"/>
                </a:solidFill>
                <a:latin typeface="Arial"/>
              </a:rPr>
              <a:t>EDGAR is point-in-time, but a small effect remains — discount the historical Quality/Value edge modestly.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2:1 leverage scales drawdown ~linearly. </a:t>
            </a:r>
            <a:r>
              <a:rPr sz="1500" b="0">
                <a:solidFill>
                  <a:srgbClr val="1F2A37"/>
                </a:solidFill>
                <a:latin typeface="Arial"/>
              </a:rPr>
              <a:t>The unlevered −26% / −18.5% drawdowns become roughly −50% / −37% at 2×. The backtest itself is 1×.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The variance premium is tail-dominated. </a:t>
            </a:r>
            <a:r>
              <a:rPr sz="1500" b="0">
                <a:solidFill>
                  <a:srgbClr val="1F2A37"/>
                </a:solidFill>
                <a:latin typeface="Arial"/>
              </a:rPr>
              <a:t>The edge comes from the strike capping the tail, not from rich variance compensation — the same nuance on both call and put sides.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The real verdict is live. </a:t>
            </a:r>
            <a:r>
              <a:rPr sz="1500" b="0">
                <a:solidFill>
                  <a:srgbClr val="1F2A37"/>
                </a:solidFill>
                <a:latin typeface="Arial"/>
              </a:rPr>
              <a:t>These are the questions paper-trading on real chains is designed to answer — not something more historical data would settle.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0" b="1">
                <a:solidFill>
                  <a:srgbClr val="2A4760"/>
                </a:solidFill>
                <a:latin typeface="Arial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21945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9FADBC"/>
                </a:solidFill>
                <a:latin typeface="Arial"/>
              </a:rPr>
              <a:t>A live, monitored system — not a notebook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08 ·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The live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FastAPI + a single-page dashboard in the firm's SFI design language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Overview. </a:t>
            </a:r>
            <a:r>
              <a:rPr sz="1500" b="0">
                <a:solidFill>
                  <a:srgbClr val="1F2A37"/>
                </a:solidFill>
                <a:latin typeface="Arial"/>
              </a:rPr>
              <a:t>NAV and cash exact to the cent, day P&amp;L, a leverage gauge, premium collected, and a global health bar (engine heartbeat, market clock, next rebalance, risk gate, drift, alerts).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Portfolio. </a:t>
            </a:r>
            <a:r>
              <a:rPr sz="1500" b="0">
                <a:solidFill>
                  <a:srgbClr val="1F2A37"/>
                </a:solidFill>
                <a:latin typeface="Arial"/>
              </a:rPr>
              <a:t>Holdings vs target with drift, a nested sector/ticker donut with concentration metrics, the book's factor tilt vs the universe, covered calls, and recent activity.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Performance. </a:t>
            </a:r>
            <a:r>
              <a:rPr sz="1500" b="0">
                <a:solidFill>
                  <a:srgbClr val="1F2A37"/>
                </a:solidFill>
                <a:latin typeface="Arial"/>
              </a:rPr>
              <a:t>Growth vs SPY / BuyWrite benchmarks, a Risk sub-tab (drawdown, volatility, 1-day 95% VaR, leverage), and an Execution sub-tab with slippage across all fills plus regulatory fees.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Backtest. </a:t>
            </a:r>
            <a:r>
              <a:rPr sz="1500" b="0">
                <a:solidFill>
                  <a:srgbClr val="1F2A37"/>
                </a:solidFill>
                <a:latin typeface="Arial"/>
              </a:rPr>
              <a:t>The full walk-forward and covered-call / variance-risk-premium analytics, including the optional put-wheel.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Self-updating. </a:t>
            </a:r>
            <a:r>
              <a:rPr sz="1500" b="0">
                <a:solidFill>
                  <a:srgbClr val="1F2A37"/>
                </a:solidFill>
                <a:latin typeface="Arial"/>
              </a:rPr>
              <a:t>An in-process monitor reconciles Alpaca → Postgres so the page reflects live state, not a stale snapshot.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08 ·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Deployment &amp;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Boring, reliable plumbing — exactly what you want operating a book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Runs on a GCP VM (e2-standard-4, 16 GB). </a:t>
            </a:r>
            <a:r>
              <a:rPr sz="1500" b="0">
                <a:solidFill>
                  <a:srgbClr val="1F2A37"/>
                </a:solidFill>
                <a:latin typeface="Arial"/>
              </a:rPr>
              <a:t>Sized after a full-universe rebalance OOM'd the original small instance; compute now finishes in ~19s with headroom (D36).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systemd services. </a:t>
            </a:r>
            <a:r>
              <a:rPr sz="1500" b="0">
                <a:solidFill>
                  <a:srgbClr val="1F2A37"/>
                </a:solidFill>
                <a:latin typeface="Arial"/>
              </a:rPr>
              <a:t>The EOD engine, the dashboard, the reverse proxy, nightly backups, and a watchdog — all managed and restart-safe.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Nightly Postgres backups to cloud storage. </a:t>
            </a:r>
            <a:r>
              <a:rPr sz="1500" b="0">
                <a:solidFill>
                  <a:srgbClr val="1F2A37"/>
                </a:solidFill>
                <a:latin typeface="Arial"/>
              </a:rPr>
              <a:t>pg_dump → GCS with a 30-day retention lifecycle.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Email alerts. </a:t>
            </a:r>
            <a:r>
              <a:rPr sz="1500" b="0">
                <a:solidFill>
                  <a:srgbClr val="1F2A37"/>
                </a:solidFill>
                <a:latin typeface="Arial"/>
              </a:rPr>
              <a:t>The six alert types (engine down, risk-gate block, reconciliation mismatch, data staleness, etc.) email live and record to the dashboard.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Shared securely. </a:t>
            </a:r>
            <a:r>
              <a:rPr sz="1500" b="0">
                <a:solidFill>
                  <a:srgbClr val="1F2A37"/>
                </a:solidFill>
                <a:latin typeface="Arial"/>
              </a:rPr>
              <a:t>Read-only public access behind a password (Tailscale Funnel + reverse-proxy basic auth). ~$98/mo all-in.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0" b="1">
                <a:solidFill>
                  <a:srgbClr val="2A4760"/>
                </a:solidFill>
                <a:latin typeface="Arial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21945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Roadmap &amp;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9FADBC"/>
                </a:solidFill>
                <a:latin typeface="Arial"/>
              </a:rPr>
              <a:t>Where the build stands, and what stands between here and live capital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09 · ROADMAP &amp;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Where we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Code-complete and paper-trading; one verification gate before the go-live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Phases 0–2 — complete &amp; gate-passed. </a:t>
            </a:r>
            <a:r>
              <a:rPr sz="1500" b="0">
                <a:solidFill>
                  <a:srgbClr val="1F2A37"/>
                </a:solidFill>
                <a:latin typeface="Arial"/>
              </a:rPr>
              <a:t>Data foundation, factor model, optimizer, and the covered-call overlay all validated in backtest.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Phase 3 — execution engine &amp; risk gate. </a:t>
            </a:r>
            <a:r>
              <a:rPr sz="1500" b="0">
                <a:solidFill>
                  <a:srgbClr val="1F2A37"/>
                </a:solidFill>
                <a:latin typeface="Arial"/>
              </a:rPr>
              <a:t>Code-complete and tested.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Phase 4 — covered-call overlay. </a:t>
            </a:r>
            <a:r>
              <a:rPr sz="1500" b="0">
                <a:solidFill>
                  <a:srgbClr val="1F2A37"/>
                </a:solidFill>
                <a:latin typeface="Arial"/>
              </a:rPr>
              <a:t>Strike selection, broker option orders, write/close, earnings handling, expiry, assignment re-entry — code-complete and tested.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Phase 5 — alerting &amp; live dashboard. </a:t>
            </a:r>
            <a:r>
              <a:rPr sz="1500" b="0">
                <a:solidFill>
                  <a:srgbClr val="1F2A37"/>
                </a:solidFill>
                <a:latin typeface="Arial"/>
              </a:rPr>
              <a:t>Live email alerts and the full monitoring dashboard — deployed and running.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0E8C7E"/>
                </a:solidFill>
                <a:latin typeface="Arial"/>
              </a:rPr>
              <a:t>The remaining gate: live-paper verification. </a:t>
            </a:r>
            <a:r>
              <a:rPr sz="1500" b="0">
                <a:solidFill>
                  <a:srgbClr val="0E1B2A"/>
                </a:solidFill>
                <a:latin typeface="Arial"/>
              </a:rPr>
              <a:t>Confirm the full strategy fills, prices, and behaves on the real paper account — the first real rebalance is the milestone in front of 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09 · ROADMAP &amp;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Key risks &amp; what's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1B2A"/>
                </a:solidFill>
                <a:latin typeface="Arial"/>
              </a:rPr>
              <a:t>Risks we 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257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1">
                <a:solidFill>
                  <a:srgbClr val="1F2A37"/>
                </a:solidFill>
                <a:latin typeface="Arial"/>
              </a:rPr>
              <a:t>Factor crowding / decay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300" b="0">
                <a:solidFill>
                  <a:srgbClr val="6B7787"/>
                </a:solidFill>
                <a:latin typeface="Arial"/>
              </a:rPr>
              <a:t>monitored via live factor-sleeve attribution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1">
                <a:solidFill>
                  <a:srgbClr val="1F2A37"/>
                </a:solidFill>
                <a:latin typeface="Arial"/>
              </a:rPr>
              <a:t>Overlay drag in strong bull markets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300" b="0">
                <a:solidFill>
                  <a:srgbClr val="6B7787"/>
                </a:solidFill>
                <a:latin typeface="Arial"/>
              </a:rPr>
              <a:t>capped upside is the deliberate trade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1">
                <a:solidFill>
                  <a:srgbClr val="1F2A37"/>
                </a:solidFill>
                <a:latin typeface="Arial"/>
              </a:rPr>
              <a:t>Leverage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300" b="0">
                <a:solidFill>
                  <a:srgbClr val="6B7787"/>
                </a:solidFill>
                <a:latin typeface="Arial"/>
              </a:rPr>
              <a:t>2:1 scales drawdown; revisited before live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1">
                <a:solidFill>
                  <a:srgbClr val="1F2A37"/>
                </a:solidFill>
                <a:latin typeface="Arial"/>
              </a:rPr>
              <a:t>Data-source reliability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300" b="0">
                <a:solidFill>
                  <a:srgbClr val="6B7787"/>
                </a:solidFill>
                <a:latin typeface="Arial"/>
              </a:rPr>
              <a:t>EDGAR-only universe; reconcile every run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1">
                <a:solidFill>
                  <a:srgbClr val="1F2A37"/>
                </a:solidFill>
                <a:latin typeface="Arial"/>
              </a:rPr>
              <a:t>Modeled-premium uncertainty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300" b="0">
                <a:solidFill>
                  <a:srgbClr val="6B7787"/>
                </a:solidFill>
                <a:latin typeface="Arial"/>
              </a:rPr>
              <a:t>the live paper book is the resolution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9904" y="1737360"/>
            <a:ext cx="15240" cy="429768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1B2A"/>
                </a:solidFill>
                <a:latin typeface="Arial"/>
              </a:rP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286000"/>
            <a:ext cx="5257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1">
                <a:solidFill>
                  <a:srgbClr val="1F2A37"/>
                </a:solidFill>
                <a:latin typeface="Arial"/>
              </a:rPr>
              <a:t>Factor-weight tuning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300" b="0">
                <a:solidFill>
                  <a:srgbClr val="6B7787"/>
                </a:solidFill>
                <a:latin typeface="Arial"/>
              </a:rPr>
              <a:t>refine off live + extended backtest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1">
                <a:solidFill>
                  <a:srgbClr val="1F2A37"/>
                </a:solidFill>
                <a:latin typeface="Arial"/>
              </a:rPr>
              <a:t>Factor-specific deltas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300" b="0">
                <a:solidFill>
                  <a:srgbClr val="6B7787"/>
                </a:solidFill>
                <a:latin typeface="Arial"/>
              </a:rPr>
              <a:t>wider strikes on momentum names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1">
                <a:solidFill>
                  <a:srgbClr val="1F2A37"/>
                </a:solidFill>
                <a:latin typeface="Arial"/>
              </a:rPr>
              <a:t>The cash-secured put wheel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300" b="0">
                <a:solidFill>
                  <a:srgbClr val="6B7787"/>
                </a:solidFill>
                <a:latin typeface="Arial"/>
              </a:rPr>
              <a:t>built &amp; backtested; wiring deferred (D34)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1">
                <a:solidFill>
                  <a:srgbClr val="1F2A37"/>
                </a:solidFill>
                <a:latin typeface="Arial"/>
              </a:rPr>
              <a:t>Crypto sleeve (3–7%)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300" b="0">
                <a:solidFill>
                  <a:srgbClr val="6B7787"/>
                </a:solidFill>
                <a:latin typeface="Arial"/>
              </a:rPr>
              <a:t>after the equity book is validated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▪  </a:t>
            </a:r>
            <a:r>
              <a:rPr sz="1400" b="1">
                <a:solidFill>
                  <a:srgbClr val="1F2A37"/>
                </a:solidFill>
                <a:latin typeface="Arial"/>
              </a:rPr>
              <a:t>SIP data upgrade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00" b="0">
                <a:solidFill>
                  <a:srgbClr val="6B7787"/>
                </a:solidFill>
                <a:latin typeface="Arial"/>
              </a:rPr>
              <a:t>        –  </a:t>
            </a:r>
            <a:r>
              <a:rPr sz="1300" b="0">
                <a:solidFill>
                  <a:srgbClr val="6B7787"/>
                </a:solidFill>
                <a:latin typeface="Arial"/>
              </a:rPr>
              <a:t>full 2016+ history, consolidated tape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4B8A6"/>
                </a:solidFill>
                <a:latin typeface="Arial"/>
              </a:rPr>
              <a:t>THE THESIS IN ONE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18872" cy="6400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4173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A disciplined factor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0136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4"/>
                </a:solidFill>
                <a:latin typeface="Arial"/>
              </a:rPr>
              <a:t>Quality, Value, Momentum, Low-vol — 50 years of academic evidence, computed transparently, weighted equally.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95728"/>
            <a:ext cx="118872" cy="6400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50008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An income overlay that lowers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734056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4"/>
                </a:solidFill>
                <a:latin typeface="Arial"/>
              </a:rPr>
              <a:t>Covered calls harvest the volatility risk premium, cutting volatility and drawdown while paying ~25%/yr in premium.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328415"/>
            <a:ext cx="118872" cy="6400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28269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Built for preservation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666744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4"/>
                </a:solidFill>
                <a:latin typeface="Arial"/>
              </a:rPr>
              <a:t>Hard diversification caps, a pre-trade risk gate, reconciliation, and a killswitch — capital preservation is structural, not aspirational.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261104"/>
            <a:ext cx="118872" cy="6400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21538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Validated, and honest about its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599432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4"/>
                </a:solidFill>
                <a:latin typeface="Arial"/>
              </a:rPr>
              <a:t>Sharpe ~1.2–1.4 with shallow drawdowns in a rigorous walk-forward — with the modeling caveats stated plainly.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193792"/>
            <a:ext cx="118872" cy="6400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14807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Live and monitored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532120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4"/>
                </a:solidFill>
                <a:latin typeface="Arial"/>
              </a:rPr>
              <a:t>Running on a paper account with a full dashboard; one verification gate from the go-live conversation.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FFFFFF"/>
                </a:solidFill>
                <a:latin typeface="Arial"/>
              </a:rPr>
              <a:t>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520440"/>
            <a:ext cx="21945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A9B7C4"/>
                </a:solidFill>
                <a:latin typeface="Arial"/>
              </a:rPr>
              <a:t>sharpe-engine  ·  systematic factor equity + covered-call overlay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4B8A6"/>
                </a:solidFill>
                <a:latin typeface="Arial"/>
              </a:rPr>
              <a:t>Appendix follows: </a:t>
            </a:r>
            <a:r>
              <a:rPr sz="1300" b="0">
                <a:solidFill>
                  <a:srgbClr val="8B99A8"/>
                </a:solidFill>
                <a:latin typeface="Arial"/>
              </a:rPr>
              <a:t>formulas · citations · methodology tables · parameters · glossary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0" b="1">
                <a:solidFill>
                  <a:srgbClr val="2A4760"/>
                </a:solidFill>
                <a:latin typeface="Arial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21945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9FADBC"/>
                </a:solidFill>
                <a:latin typeface="Arial"/>
              </a:rPr>
              <a:t>Formulas, citations, methodology, parameters, and a glossary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APPENDIX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Factor formulas — full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z(·) = cross-sectional z-score with 1%/99% winsorization; missing → neutral (0)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176272"/>
          <a:ext cx="10908792" cy="25237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6583680"/>
                <a:gridCol w="2679192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Factor</a:t>
                      </a:r>
                    </a:p>
                  </a:txBody>
                  <a:tcPr anchor="ctr" marL="73152" marR="54864" marT="18288" marB="18288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Formula (as implemented)</a:t>
                      </a:r>
                    </a:p>
                  </a:txBody>
                  <a:tcPr anchor="ctr" marL="73152" marR="54864" marT="18288" marB="18288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Inputs</a:t>
                      </a:r>
                    </a:p>
                  </a:txBody>
                  <a:tcPr anchor="ctr" marL="73152" marR="54864" marT="18288" marB="18288">
                    <a:solidFill>
                      <a:srgbClr val="0E1B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z( z(ROE) + z(gross margin) 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EDGAR fundamentals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z( z(E/P) + z(B/P) ),  E/P=1/PE, B/P=1/PB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EDGAR + price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rial"/>
                        </a:rPr>
                        <a:t>Momentum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z( close[t−21] / close[t−252] − 1 )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daily closes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rial"/>
                        </a:rPr>
                        <a:t>Low-vol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z( −σ of daily returns, trailing 252d )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daily closes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rial"/>
                        </a:rPr>
                        <a:t>Composite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0.25·Q + 0.25·V + 0.25·M + 0.25·L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the four sub-scores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809744"/>
            <a:ext cx="10908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787"/>
                </a:solidFill>
                <a:latin typeface="Arial"/>
              </a:rPr>
              <a:t>“Double-z”: Quality and Value sum their two metric z-scores, then re-standardize, so all four sub-scores share unit variance before the equal-weight average (true equal weighting).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APPENDIX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Selected literature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8C7E"/>
                </a:solidFill>
                <a:latin typeface="Arial"/>
              </a:rPr>
              <a:t>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737360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2A37"/>
                </a:solidFill>
                <a:latin typeface="Arial"/>
              </a:rPr>
              <a:t>·  Fama &amp; French (1992), The Cross-Section of Expected Stock Returns, J. of Finance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020824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2A37"/>
                </a:solidFill>
                <a:latin typeface="Arial"/>
              </a:rPr>
              <a:t>·  Fama &amp; French (1993), Common Risk Factors in Stocks and Bonds, JFE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304288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2A37"/>
                </a:solidFill>
                <a:latin typeface="Arial"/>
              </a:rPr>
              <a:t>·  Basu (1977), Investment Performance … P/E Ratios, J. of Finance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0662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8C7E"/>
                </a:solidFill>
                <a:latin typeface="Arial"/>
              </a:rPr>
              <a:t>Momentum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706624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2A37"/>
                </a:solidFill>
                <a:latin typeface="Arial"/>
              </a:rPr>
              <a:t>·  Jegadeesh &amp; Titman (1993), Returns to Buying Winners …, J. of 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990088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2A37"/>
                </a:solidFill>
                <a:latin typeface="Arial"/>
              </a:rPr>
              <a:t>·  Carhart (1997), On Persistence in Mutual Fund Performance, J. of 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273552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2A37"/>
                </a:solidFill>
                <a:latin typeface="Arial"/>
              </a:rPr>
              <a:t>·  Asness, Moskowitz &amp; Pedersen (2013), Value and Momentum Everywhere, J. of Finance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758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8C7E"/>
                </a:solidFill>
                <a:latin typeface="Arial"/>
              </a:rPr>
              <a:t>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675888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2A37"/>
                </a:solidFill>
                <a:latin typeface="Arial"/>
              </a:rPr>
              <a:t>·  Novy-Marx (2013), The Other Side of Value: Gross Profitability, JFE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959352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2A37"/>
                </a:solidFill>
                <a:latin typeface="Arial"/>
              </a:rPr>
              <a:t>·  Asness, Frazzini &amp; Pedersen (2019), Quality Minus Junk, Rev. of Accounting Studies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242816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2A37"/>
                </a:solidFill>
                <a:latin typeface="Arial"/>
              </a:rPr>
              <a:t>·  Piotroski (2000), Value Investing …, J. of Accounting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4515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8C7E"/>
                </a:solidFill>
                <a:latin typeface="Arial"/>
              </a:rPr>
              <a:t>Low-volatility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645152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2A37"/>
                </a:solidFill>
                <a:latin typeface="Arial"/>
              </a:rPr>
              <a:t>·  Ang, Hodrick, Xing &amp; Zhang (2006), Cross-Section of Volatility, J. of Finance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928616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2A37"/>
                </a:solidFill>
                <a:latin typeface="Arial"/>
              </a:rPr>
              <a:t>·  Frazzini &amp; Pedersen (2014), Betting Against Beta, JFE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212080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2A37"/>
                </a:solidFill>
                <a:latin typeface="Arial"/>
              </a:rPr>
              <a:t>·  Baker, Bradley &amp; Wurgler (2011), Benchmarks as Limits to Arbitrage, FAJ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1441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8C7E"/>
                </a:solidFill>
                <a:latin typeface="Arial"/>
              </a:rPr>
              <a:t>Covariance &amp; VRP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614416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2A37"/>
                </a:solidFill>
                <a:latin typeface="Arial"/>
              </a:rPr>
              <a:t>·  Fama &amp; French (2015), A Five-Factor Asset Pricing Model, JFE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897880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2A37"/>
                </a:solidFill>
                <a:latin typeface="Arial"/>
              </a:rPr>
              <a:t>·  Whaley (2002), Return and Risk of the CBOE BuyWrite Index, J. of Derivatives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6181344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2A37"/>
                </a:solidFill>
                <a:latin typeface="Arial"/>
              </a:rPr>
              <a:t>·  Carr &amp; Wu (2009), Variance Risk Premiums, Review of Financial Studies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APPENDIX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Optimizer — mathematical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A convex QP with a min-position cleanup heuristic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Objective:  </a:t>
            </a:r>
            <a:r>
              <a:rPr sz="1500" b="0">
                <a:solidFill>
                  <a:srgbClr val="0E1B2A"/>
                </a:solidFill>
                <a:latin typeface="Arial"/>
              </a:rPr>
              <a:t>maximize  μᵀw − λ·wᵀΣw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Expected return proxy:  </a:t>
            </a:r>
            <a:r>
              <a:rPr sz="1500" b="0">
                <a:solidFill>
                  <a:srgbClr val="0E1B2A"/>
                </a:solidFill>
                <a:latin typeface="Arial"/>
              </a:rPr>
              <a:t>μᵢ = rank(compositeᵢ)/N × target_return_scale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Constraints:  </a:t>
            </a:r>
            <a:r>
              <a:rPr sz="1500" b="0">
                <a:solidFill>
                  <a:srgbClr val="0E1B2A"/>
                </a:solidFill>
                <a:latin typeface="Arial"/>
              </a:rPr>
              <a:t>Σw = 0.95 · 0 ≤ wᵢ ≤ 0.05 · Σ(sector) ≤ 0.30 · wᵢ ∈ {0} ∪ [4%, 5%]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Default λ = 0 </a:t>
            </a:r>
            <a:r>
              <a:rPr sz="1500" b="0">
                <a:solidFill>
                  <a:srgbClr val="1F2A37"/>
                </a:solidFill>
                <a:latin typeface="Arial"/>
              </a:rPr>
              <a:t>— a pure linear program; the box/sector/min constraints supply diversification (D25). The λ&gt;0 mean-variance path is preserved in code.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Covariance:  </a:t>
            </a:r>
            <a:r>
              <a:rPr sz="1500" b="0">
                <a:solidFill>
                  <a:srgbClr val="1F2A37"/>
                </a:solidFill>
                <a:latin typeface="Arial"/>
              </a:rPr>
              <a:t>Σ = B·cov(F)·Bᵀ + diag(residual var), B from OLS of each asset's excess return on the FF5 factors over a 60-day window (D23a).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Semi-continuous min position. </a:t>
            </a:r>
            <a:r>
              <a:rPr sz="1500" b="0">
                <a:solidFill>
                  <a:srgbClr val="1F2A37"/>
                </a:solidFill>
                <a:latin typeface="Arial"/>
              </a:rPr>
              <a:t>Non-convex, and no MIQP solver installed — so: pre-select top-50, solve the convex QP, drop the single smallest sub-floor name, re-solve to convergence, then walk an infeasibility-relaxation ladder before holding (D23b).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Solver:  </a:t>
            </a:r>
            <a:r>
              <a:rPr sz="1500" b="0">
                <a:solidFill>
                  <a:srgbClr val="1F2A37"/>
                </a:solidFill>
                <a:latin typeface="Arial"/>
              </a:rPr>
              <a:t>CVXPY + CLARABEL; 'Unknown'-sector names (ETFs without a SIC) are exempt from the sector cap.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APPENDIX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Options — Black-Scholes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Pure, vectorized math — shared by the backtest and the live overlay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Call delta:  </a:t>
            </a:r>
            <a:r>
              <a:rPr sz="1500" b="0">
                <a:solidFill>
                  <a:srgbClr val="0E1B2A"/>
                </a:solidFill>
                <a:latin typeface="Arial"/>
              </a:rPr>
              <a:t>Δ = N(d₁),   d₁ = [ ln(S/K) + (r + ½σ²)T ] / (σ√T)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Strike for a target delta (closed form):  </a:t>
            </a:r>
            <a:r>
              <a:rPr sz="1500" b="0">
                <a:solidFill>
                  <a:srgbClr val="0E1B2A"/>
                </a:solidFill>
                <a:latin typeface="Arial"/>
              </a:rPr>
              <a:t>K = S·exp[ (r+½σ²)T − Φ⁻¹(Δ)·σ√T ]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Covered-call return:  </a:t>
            </a:r>
            <a:r>
              <a:rPr sz="1500" b="0">
                <a:solidFill>
                  <a:srgbClr val="0E1B2A"/>
                </a:solidFill>
                <a:latin typeface="Arial"/>
              </a:rPr>
              <a:t>min(equity_return, strike_return) + premium_yield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Cash-secured put return:  </a:t>
            </a:r>
            <a:r>
              <a:rPr sz="1500" b="0">
                <a:solidFill>
                  <a:srgbClr val="0E1B2A"/>
                </a:solidFill>
                <a:latin typeface="Arial"/>
              </a:rPr>
              <a:t>premium_yield + min(equity_return − strike_return, 0)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Rates default r = 0. </a:t>
            </a:r>
            <a:r>
              <a:rPr sz="1500" b="0">
                <a:solidFill>
                  <a:srgbClr val="1F2A37"/>
                </a:solidFill>
                <a:latin typeface="Arial"/>
              </a:rPr>
              <a:t>At 30–45 DTE the carry term is second-order, and the backtest works in excess-of-cash terms.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Volatility is the load-bearing input (D27). </a:t>
            </a:r>
            <a:r>
              <a:rPr sz="1500" b="0">
                <a:solidFill>
                  <a:srgbClr val="1F2A37"/>
                </a:solidFill>
                <a:latin typeface="Arial"/>
              </a:rPr>
              <a:t>Live, IV ≈ annualized trailing realized vol; in backtest, real chains where available, else this estimate, sensitivity-tested at the realized-vol floor and a market-implied (VIX-scaled) upper bound.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▪  </a:t>
            </a:r>
            <a:r>
              <a:rPr sz="1500" b="1">
                <a:solidFill>
                  <a:srgbClr val="1F2A37"/>
                </a:solidFill>
                <a:latin typeface="Arial"/>
              </a:rPr>
              <a:t>Delta is computed, not read. </a:t>
            </a:r>
            <a:r>
              <a:rPr sz="1500" b="0">
                <a:solidFill>
                  <a:srgbClr val="1F2A37"/>
                </a:solidFill>
                <a:latin typeface="Arial"/>
              </a:rPr>
              <a:t>Alpaca's indicative chain has no Greeks, so every candidate strike is priced via Black-Scholes from spot and the IV estimate.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APPENDIX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Delta sweep — why 0.30 (D29)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Premium pays only when implied vol exceeds realized; 0.30 stays under the 30% assignment cap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176272"/>
          <a:ext cx="10908792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834640"/>
                <a:gridCol w="2651760"/>
                <a:gridCol w="2679192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Target delta</a:t>
                      </a:r>
                    </a:p>
                  </a:txBody>
                  <a:tcPr anchor="ctr" marL="73152" marR="54864" marT="18288" marB="18288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Sharpe @ realized floor</a:t>
                      </a:r>
                    </a:p>
                  </a:txBody>
                  <a:tcPr anchor="ctr" marL="73152" marR="54864" marT="18288" marB="18288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Sharpe @ market IV</a:t>
                      </a:r>
                    </a:p>
                  </a:txBody>
                  <a:tcPr anchor="ctr" marL="73152" marR="54864" marT="18288" marB="18288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Assignment rate</a:t>
                      </a:r>
                    </a:p>
                  </a:txBody>
                  <a:tcPr anchor="ctr" marL="73152" marR="54864" marT="18288" marB="18288">
                    <a:solidFill>
                      <a:srgbClr val="0E1B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rial"/>
                        </a:rPr>
                        <a:t>0.25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~0.54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1.18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18%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rial"/>
                        </a:rPr>
                        <a:t>0.30  (chosen)</a:t>
                      </a:r>
                    </a:p>
                  </a:txBody>
                  <a:tcPr anchor="ctr" marL="73152" marR="54864" marT="18288" marB="18288"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E1B2A"/>
                          </a:solidFill>
                          <a:latin typeface="Arial"/>
                        </a:rPr>
                        <a:t>~0.54</a:t>
                      </a:r>
                    </a:p>
                  </a:txBody>
                  <a:tcPr anchor="ctr" marL="73152" marR="54864" marT="18288" marB="18288"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E1B2A"/>
                          </a:solidFill>
                          <a:latin typeface="Arial"/>
                        </a:rPr>
                        <a:t>1.31</a:t>
                      </a:r>
                    </a:p>
                  </a:txBody>
                  <a:tcPr anchor="ctr" marL="73152" marR="54864" marT="18288" marB="18288"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E1B2A"/>
                          </a:solidFill>
                          <a:latin typeface="Arial"/>
                        </a:rPr>
                        <a:t>22%</a:t>
                      </a:r>
                    </a:p>
                  </a:txBody>
                  <a:tcPr anchor="ctr" marL="73152" marR="54864" marT="18288" marB="18288">
                    <a:solidFill>
                      <a:srgbClr val="ECF6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rial"/>
                        </a:rPr>
                        <a:t>0.35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~0.55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1.43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rial"/>
                        </a:rPr>
                        <a:t>0.40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~0.55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1.52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36%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389120"/>
            <a:ext cx="10908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787"/>
                </a:solidFill>
                <a:latin typeface="Arial"/>
              </a:rPr>
              <a:t>Higher delta harvests more premium but calls more names away. 0.30 is the balanced step up from the original 0.25 — market-IV Sharpe 1.31 at a comfortable 22% assignment.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APPENDIX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Turnover sweep — why churn is left on (D26)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The ~33%/mo turnover is the book staying on fresh signal — it is alpha, not waste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176272"/>
          <a:ext cx="10908792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2651760"/>
                <a:gridCol w="2468880"/>
                <a:gridCol w="2679192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Incumbent bonus</a:t>
                      </a:r>
                    </a:p>
                  </a:txBody>
                  <a:tcPr anchor="ctr" marL="73152" marR="54864" marT="18288" marB="18288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Turnover / mo</a:t>
                      </a:r>
                    </a:p>
                  </a:txBody>
                  <a:tcPr anchor="ctr" marL="73152" marR="54864" marT="18288" marB="18288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Net return</a:t>
                      </a:r>
                    </a:p>
                  </a:txBody>
                  <a:tcPr anchor="ctr" marL="73152" marR="54864" marT="18288" marB="18288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Sharpe</a:t>
                      </a:r>
                    </a:p>
                  </a:txBody>
                  <a:tcPr anchor="ctr" marL="73152" marR="54864" marT="18288" marB="18288">
                    <a:solidFill>
                      <a:srgbClr val="0E1B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rial"/>
                        </a:rPr>
                        <a:t>0.00  (off, chosen)</a:t>
                      </a:r>
                    </a:p>
                  </a:txBody>
                  <a:tcPr anchor="ctr" marL="73152" marR="54864" marT="18288" marB="18288"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E1B2A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anchor="ctr" marL="73152" marR="54864" marT="18288" marB="18288"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E1B2A"/>
                          </a:solidFill>
                          <a:latin typeface="Arial"/>
                        </a:rPr>
                        <a:t>+14.0%</a:t>
                      </a:r>
                    </a:p>
                  </a:txBody>
                  <a:tcPr anchor="ctr" marL="73152" marR="54864" marT="18288" marB="18288"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E1B2A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 anchor="ctr" marL="73152" marR="54864" marT="18288" marB="18288">
                    <a:solidFill>
                      <a:srgbClr val="ECF6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rial"/>
                        </a:rPr>
                        <a:t>0.10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+10.6%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0.59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rial"/>
                        </a:rPr>
                        <a:t>0.20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+10.7%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0.60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rial"/>
                        </a:rPr>
                        <a:t>0.30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18%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+5.5%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rial"/>
                        </a:rPr>
                        <a:t>0.36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389120"/>
            <a:ext cx="10908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787"/>
                </a:solidFill>
                <a:latin typeface="Arial"/>
              </a:rPr>
              <a:t>Realized cost of 33% turnover is only ~1%/yr (already inside net returns); suppressing it gives up 3–4%/yr of return. The hysteresis knob is built but defaulted off.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APPENDIX ·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Key parameters (config/settings.yaml)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B7787"/>
                </a:solidFill>
                <a:latin typeface="Arial"/>
              </a:rPr>
              <a:t>Nothing is hardcoded in source — every tuneable lives in one YAML 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176272"/>
          <a:ext cx="10908792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2743200"/>
                <a:gridCol w="2743200"/>
                <a:gridCol w="2587752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 anchor="ctr" marL="73152" marR="54864" marT="18288" marB="18288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anchor="ctr" marL="73152" marR="54864" marT="18288" marB="18288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 anchor="ctr" marL="73152" marR="54864" marT="18288" marB="18288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anchor="ctr" marL="73152" marR="54864" marT="18288" marB="18288">
                    <a:solidFill>
                      <a:srgbClr val="0E1B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1B2A"/>
                          </a:solidFill>
                          <a:latin typeface="Arial"/>
                        </a:rPr>
                        <a:t>Universe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ADV &gt; $1M, price &gt; $5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Max single name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1B2A"/>
                          </a:solidFill>
                          <a:latin typeface="Arial"/>
                        </a:rPr>
                        <a:t>Fundamentals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EDGAR US-GAAP only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Max sector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1B2A"/>
                          </a:solidFill>
                          <a:latin typeface="Arial"/>
                        </a:rPr>
                        <a:t>NAV (paper)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$100,000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Min position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$4,000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1B2A"/>
                          </a:solidFill>
                          <a:latin typeface="Arial"/>
                        </a:rPr>
                        <a:t>Target / max leverage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2.0× / 2.0×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Invested / cash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95% / 5%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1B2A"/>
                          </a:solidFill>
                          <a:latin typeface="Arial"/>
                        </a:rPr>
                        <a:t>Factor weights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25% each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Risk-aversion λ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1B2A"/>
                          </a:solidFill>
                          <a:latin typeface="Arial"/>
                        </a:rPr>
                        <a:t>Momentum window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252 / skip 21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Vol window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252d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1B2A"/>
                          </a:solidFill>
                          <a:latin typeface="Arial"/>
                        </a:rPr>
                        <a:t>Winsorization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1% / 99%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Pre-select top-K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1B2A"/>
                          </a:solidFill>
                          <a:latin typeface="Arial"/>
                        </a:rPr>
                        <a:t>Target delta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0.30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DTE window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30–45</a:t>
                      </a:r>
                    </a:p>
                  </a:txBody>
                  <a:tcPr anchor="ctr" marL="73152" marR="54864" marT="18288" marB="18288"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1B2A"/>
                          </a:solidFill>
                          <a:latin typeface="Arial"/>
                        </a:rPr>
                        <a:t>Covariance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FF5, 60d window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Rebalance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rial"/>
                        </a:rPr>
                        <a:t>monthly, 13:00 ET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8C7E"/>
                </a:solidFill>
                <a:latin typeface="Arial"/>
              </a:rPr>
              <a:t>APPENDIX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E1B2A"/>
                </a:solidFill>
                <a:latin typeface="Arial"/>
              </a:rPr>
              <a:t>Glossary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1B2A"/>
                </a:solidFill>
                <a:latin typeface="Arial"/>
              </a:rPr>
              <a:t>Factor premium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787"/>
                </a:solidFill>
                <a:latin typeface="Arial"/>
              </a:rPr>
              <a:t>Persistent excess return for bearing a systematic risk (e.g. value)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059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1B2A"/>
                </a:solidFill>
                <a:latin typeface="Arial"/>
              </a:rPr>
              <a:t>Composite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24912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787"/>
                </a:solidFill>
                <a:latin typeface="Arial"/>
              </a:rPr>
              <a:t>Equal-weighted average of the four standardized factor sub-scores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63824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1B2A"/>
                </a:solidFill>
                <a:latin typeface="Arial"/>
              </a:rPr>
              <a:t>z-score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38144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787"/>
                </a:solidFill>
                <a:latin typeface="Arial"/>
              </a:rPr>
              <a:t>Standardized distance from the cross-sectional mean, in std-deviations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77056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1B2A"/>
                </a:solidFill>
                <a:latin typeface="Arial"/>
              </a:rPr>
              <a:t>Winsorize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51376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787"/>
                </a:solidFill>
                <a:latin typeface="Arial"/>
              </a:rPr>
              <a:t>Clip extreme values to a percentile before computing statistics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90288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1B2A"/>
                </a:solidFill>
                <a:latin typeface="Arial"/>
              </a:rPr>
              <a:t>Delta (Δ)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64608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787"/>
                </a:solidFill>
                <a:latin typeface="Arial"/>
              </a:rPr>
              <a:t>Option's sensitivity to the underlying ≈ probability of finishing in-the-money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03520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1B2A"/>
                </a:solidFill>
                <a:latin typeface="Arial"/>
              </a:rPr>
              <a:t>DTE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7784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787"/>
                </a:solidFill>
                <a:latin typeface="Arial"/>
              </a:rPr>
              <a:t>Days to expiration of an option 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737360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1B2A"/>
                </a:solidFill>
                <a:latin typeface="Arial"/>
              </a:rPr>
              <a:t>Covered 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01168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787"/>
                </a:solidFill>
                <a:latin typeface="Arial"/>
              </a:rPr>
              <a:t>Selling a call against stock you own — income for capped upside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45059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1B2A"/>
                </a:solidFill>
                <a:latin typeface="Arial"/>
              </a:rPr>
              <a:t>VRP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724912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787"/>
                </a:solidFill>
                <a:latin typeface="Arial"/>
              </a:rPr>
              <a:t>Volatility risk premium — implied vol persistently exceeding realized vol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163824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1B2A"/>
                </a:solidFill>
                <a:latin typeface="Arial"/>
              </a:rPr>
              <a:t>Assignment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438144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787"/>
                </a:solidFill>
                <a:latin typeface="Arial"/>
              </a:rPr>
              <a:t>Being obligated to sell the stock when a short call finishes in-the-money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877056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1B2A"/>
                </a:solidFill>
                <a:latin typeface="Arial"/>
              </a:rPr>
              <a:t>Sharpe ratio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151376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787"/>
                </a:solidFill>
                <a:latin typeface="Arial"/>
              </a:rPr>
              <a:t>Return per unit of volatility — the risk-adjusted return measure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590288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1B2A"/>
                </a:solidFill>
                <a:latin typeface="Arial"/>
              </a:rPr>
              <a:t>Max drawdown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864608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787"/>
                </a:solidFill>
                <a:latin typeface="Arial"/>
              </a:rPr>
              <a:t>Largest peak-to-trough decline over the period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303520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1B2A"/>
                </a:solidFill>
                <a:latin typeface="Arial"/>
              </a:rPr>
              <a:t>Reconciliation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57784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787"/>
                </a:solidFill>
                <a:latin typeface="Arial"/>
              </a:rPr>
              <a:t>Squaring the internal database against live broker positions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sharpe-engine   ·   strategy &amp;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19088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B7787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